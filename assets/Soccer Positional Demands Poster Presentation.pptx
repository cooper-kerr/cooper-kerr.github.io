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1_FA1FA866.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7" r:id="rId5"/>
  </p:sldIdLst>
  <p:sldSz cx="43891200" cy="32918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424964C-B125-1569-BE2C-C30586E4137E}" name="Gretchen Thompson" initials="GT" userId="S::u6048305@umail.utah.edu::30ad7e5e-7599-4aef-8ad6-27b99484eb85" providerId="AD"/>
  <p188:author id="{64F57ECF-2288-48B3-CF7A-9A554807A25C}" name="SOPHIA PAPAGNI TERRILL" initials="ST" userId="S::u1403089@umail.utah.edu::b14f013a-10a8-450d-b625-2ef425cfb14c" providerId="AD"/>
  <p188:author id="{84203CD4-72AE-BB3E-E37C-0E491786CB9F}" name="Cooper Kerr" initials="CK" userId="S::u1525670@umail.utah.edu::597b204b-1a15-4050-883b-7b236bb2cc53" providerId="AD"/>
  <p188:author id="{BC1104D8-A139-45F4-1343-3559A59B6A7B}" name="Greta Czachor" initials="GC" userId="S::u1455986@umail.utah.edu::368a54ee-9647-4ec4-8ab9-9c7f6b68486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609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89BEAA-679D-3ED9-2151-4D8D23CAE5B5}" v="8" dt="2025-07-24T17:20:35.8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81"/>
  </p:normalViewPr>
  <p:slideViewPr>
    <p:cSldViewPr snapToGrid="0">
      <p:cViewPr varScale="1">
        <p:scale>
          <a:sx n="24" d="100"/>
          <a:sy n="24" d="100"/>
        </p:scale>
        <p:origin x="148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8/10/relationships/authors" Target="authors.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comments/modernComment_101_FA1FA866.xml><?xml version="1.0" encoding="utf-8"?>
<p188:cmLst xmlns:a="http://schemas.openxmlformats.org/drawingml/2006/main" xmlns:r="http://schemas.openxmlformats.org/officeDocument/2006/relationships" xmlns:p188="http://schemas.microsoft.com/office/powerpoint/2018/8/main">
  <p188:cm id="{7C5B9B5E-E960-4913-B4AD-868D1A14F8F3}" authorId="{6424964C-B125-1569-BE2C-C30586E4137E}" status="resolved" created="2025-04-04T15:18:45.248" complete="100000">
    <ac:txMkLst xmlns:ac="http://schemas.microsoft.com/office/drawing/2013/main/command">
      <pc:docMk xmlns:pc="http://schemas.microsoft.com/office/powerpoint/2013/main/command"/>
      <pc:sldMk xmlns:pc="http://schemas.microsoft.com/office/powerpoint/2013/main/command" cId="4196378726" sldId="257"/>
      <ac:spMk id="27" creationId="{71821329-6FCD-F5E7-AF4A-F8C3F83807D9}"/>
      <ac:txMk cp="654" len="706">
        <ac:context len="1364" hash="755564237"/>
      </ac:txMk>
    </ac:txMkLst>
    <p188:pos x="4985467" y="14002246"/>
    <p188:replyLst>
      <p188:reply id="{24CF7167-2607-4F60-B353-9533F7B9F666}" authorId="{64F57ECF-2288-48B3-CF7A-9A554807A25C}" created="2025-04-05T17:46:01.567">
        <p188:txBody>
          <a:bodyPr/>
          <a:lstStyle/>
          <a:p>
            <a:r>
              <a:rPr lang="en-US"/>
              <a:t>i changed bolding to the metric name and underlining to more specific definition as opposed to if it is a volume/density/intensity indicator, is that better? </a:t>
            </a:r>
          </a:p>
        </p188:txBody>
      </p188:reply>
    </p188:replyLst>
    <p188:txBody>
      <a:bodyPr/>
      <a:lstStyle/>
      <a:p>
        <a:r>
          <a:rPr lang="en-US"/>
          <a:t>is there a better way we can format this? use bold/underlines to clearly state measure &amp; its definition. </a:t>
        </a:r>
      </a:p>
    </p188:txBody>
  </p188:cm>
  <p188:cm id="{A717F9CE-CB49-4CEC-91AD-E74897BB3FBE}" authorId="{6424964C-B125-1569-BE2C-C30586E4137E}" status="resolved" created="2025-04-04T15:19:36.483" complete="100000">
    <ac:txMkLst xmlns:ac="http://schemas.microsoft.com/office/drawing/2013/main/command">
      <pc:docMk xmlns:pc="http://schemas.microsoft.com/office/powerpoint/2013/main/command"/>
      <pc:sldMk xmlns:pc="http://schemas.microsoft.com/office/powerpoint/2013/main/command" cId="4196378726" sldId="257"/>
      <ac:spMk id="27" creationId="{71821329-6FCD-F5E7-AF4A-F8C3F83807D9}"/>
      <ac:txMk cp="698" len="8">
        <ac:context len="1364" hash="755564237"/>
      </ac:txMk>
    </ac:txMkLst>
    <p188:pos x="3721210" y="8849801"/>
    <p188:replyLst>
      <p188:reply id="{1A7D3475-0D4B-49B6-B0C1-41054A129920}" authorId="{64F57ECF-2288-48B3-CF7A-9A554807A25C}" created="2025-04-05T18:03:20.754">
        <p188:txBody>
          <a:bodyPr/>
          <a:lstStyle/>
          <a:p>
            <a:r>
              <a:rPr lang="en-US"/>
              <a:t>[@Gretchen Thompson] Would training impact be an accurate way to phrase this?</a:t>
            </a:r>
          </a:p>
        </p188:txBody>
      </p188:reply>
      <p188:reply id="{148F7332-B2EB-49B1-AAF7-EBF025B6E8CE}" authorId="{6424964C-B125-1569-BE2C-C30586E4137E}" created="2025-04-08T16:13:00.107">
        <p188:txBody>
          <a:bodyPr/>
          <a:lstStyle/>
          <a:p>
            <a:r>
              <a:rPr lang="en-US"/>
              <a:t>no, it is the total volume of work done in a session. Can you download a higher quality version of the player load formula (this one might be grainy on the print)?</a:t>
            </a:r>
          </a:p>
        </p188:txBody>
      </p188:reply>
    </p188:replyLst>
    <p188:txBody>
      <a:bodyPr/>
      <a:lstStyle/>
      <a:p>
        <a:r>
          <a:rPr lang="en-US"/>
          <a:t>training impact? I would also add the player load formula</a:t>
        </a:r>
      </a:p>
    </p188:txBody>
    <p188:extLst>
      <p:ext xmlns:p="http://schemas.openxmlformats.org/presentationml/2006/main" uri="{57CB4572-C831-44C2-8A1C-0ADB6CCDFE69}">
        <p223:reactions xmlns:p223="http://schemas.microsoft.com/office/powerpoint/2022/03/main">
          <p223:rxn type="👍">
            <p223:instance time="2025-04-05T18:03:23.348" authorId="{64F57ECF-2288-48B3-CF7A-9A554807A25C}"/>
          </p223:rxn>
        </p223:reactions>
      </p:ext>
    </p188:extLst>
  </p188:cm>
  <p188:cm id="{C3E154A7-E8F7-4F6E-8524-8F7A9EDE1F2E}" authorId="{6424964C-B125-1569-BE2C-C30586E4137E}" status="resolved" created="2025-04-04T15:22:01.252" complete="100000">
    <ac:txMkLst xmlns:ac="http://schemas.microsoft.com/office/drawing/2013/main/command">
      <pc:docMk xmlns:pc="http://schemas.microsoft.com/office/powerpoint/2013/main/command"/>
      <pc:sldMk xmlns:pc="http://schemas.microsoft.com/office/powerpoint/2013/main/command" cId="4196378726" sldId="257"/>
      <ac:spMk id="29" creationId="{9826319A-9933-CDF3-5B45-507F72EE5122}"/>
      <ac:txMk cp="703">
        <ac:context len="704" hash="3853384441"/>
      </ac:txMk>
    </ac:txMkLst>
    <p188:pos x="3291839" y="10137913"/>
    <p188:replyLst>
      <p188:reply id="{EFBFE202-C3D7-4825-9F1F-FB3628501C30}" authorId="{64F57ECF-2288-48B3-CF7A-9A554807A25C}" created="2025-04-05T17:07:08.710">
        <p188:txBody>
          <a:bodyPr/>
          <a:lstStyle/>
          <a:p>
            <a:r>
              <a:rPr lang="en-US"/>
              <a:t>[@Gretchen Thompson]  we didn't really have a practical significance marker, is this something we need to define?</a:t>
            </a:r>
          </a:p>
        </p188:txBody>
      </p188:reply>
      <p188:reply id="{5FCCD3C4-0583-4C80-ACEE-113CA1C55412}" authorId="{6424964C-B125-1569-BE2C-C30586E4137E}" created="2025-04-08T16:10:03.232">
        <p188:txBody>
          <a:bodyPr/>
          <a:lstStyle/>
          <a:p>
            <a:r>
              <a:rPr lang="en-US"/>
              <a:t>no, but you need to specifically state that this is statistical significance, and consider addressing the practical significance in your conclusions (or limitations)</a:t>
            </a:r>
          </a:p>
        </p188:txBody>
      </p188:reply>
    </p188:replyLst>
    <p188:txBody>
      <a:bodyPr/>
      <a:lstStyle/>
      <a:p>
        <a:r>
          <a:rPr lang="en-US"/>
          <a:t>statistical significance. unsure on the practical significance </a:t>
        </a:r>
      </a:p>
    </p188:txBody>
  </p188:cm>
  <p188:cm id="{BD0C0566-7676-482C-9AE4-6EC53936E177}" authorId="{6424964C-B125-1569-BE2C-C30586E4137E}" status="resolved" created="2025-04-04T15:22:44.987" complete="100000">
    <ac:txMkLst xmlns:ac="http://schemas.microsoft.com/office/drawing/2013/main/command">
      <pc:docMk xmlns:pc="http://schemas.microsoft.com/office/powerpoint/2013/main/command"/>
      <pc:sldMk xmlns:pc="http://schemas.microsoft.com/office/powerpoint/2013/main/command" cId="4196378726" sldId="257"/>
      <ac:spMk id="29" creationId="{9826319A-9933-CDF3-5B45-507F72EE5122}"/>
      <ac:txMk cp="100">
        <ac:context len="545" hash="201020575"/>
      </ac:txMk>
    </ac:txMkLst>
    <p188:pos x="7752521" y="6273579"/>
    <p188:txBody>
      <a:bodyPr/>
      <a:lstStyle/>
      <a:p>
        <a:r>
          <a:rPr lang="en-US"/>
          <a:t>can we make this more concise?</a:t>
        </a:r>
      </a:p>
    </p188:txBody>
    <p188:extLst>
      <p:ext xmlns:p="http://schemas.openxmlformats.org/presentationml/2006/main" uri="{57CB4572-C831-44C2-8A1C-0ADB6CCDFE69}">
        <p223:reactions xmlns:p223="http://schemas.microsoft.com/office/powerpoint/2022/03/main">
          <p223:rxn type="👍">
            <p223:instance time="2025-04-05T16:59:21.464" authorId="{64F57ECF-2288-48B3-CF7A-9A554807A25C}"/>
          </p223:rxn>
        </p223:reactions>
      </p:ext>
    </p188:extLst>
  </p188:cm>
  <p188:cm id="{6FF73D9D-A096-4B16-B1BD-F225149F383D}" authorId="{6424964C-B125-1569-BE2C-C30586E4137E}" status="resolved" created="2025-04-04T15:23:07.175" complete="100000">
    <ac:deMkLst xmlns:ac="http://schemas.microsoft.com/office/drawing/2013/main/command">
      <pc:docMk xmlns:pc="http://schemas.microsoft.com/office/powerpoint/2013/main/command"/>
      <pc:sldMk xmlns:pc="http://schemas.microsoft.com/office/powerpoint/2013/main/command" cId="4196378726" sldId="257"/>
      <ac:graphicFrameMk id="22" creationId="{804581A7-35A0-5AEC-B11C-8D7875A1B910}"/>
    </ac:deMkLst>
    <p188:txBody>
      <a:bodyPr/>
      <a:lstStyle/>
      <a:p>
        <a:r>
          <a:rPr lang="en-US"/>
          <a:t>data?</a:t>
        </a:r>
      </a:p>
    </p188:txBody>
  </p188:cm>
  <p188:cm id="{B69B555A-55CC-4B28-A107-B62DC624CB1E}" authorId="{6424964C-B125-1569-BE2C-C30586E4137E}" status="resolved" created="2025-04-04T15:24:34.833" complete="100000">
    <ac:deMkLst xmlns:ac="http://schemas.microsoft.com/office/drawing/2013/main/command">
      <pc:docMk xmlns:pc="http://schemas.microsoft.com/office/powerpoint/2013/main/command"/>
      <pc:sldMk xmlns:pc="http://schemas.microsoft.com/office/powerpoint/2013/main/command" cId="4196378726" sldId="257"/>
      <ac:graphicFrameMk id="6" creationId="{FC46FC5B-01E1-EE3E-55B6-DDFCDE3C4480}"/>
    </ac:deMkLst>
    <p188:txBody>
      <a:bodyPr/>
      <a:lstStyle/>
      <a:p>
        <a:r>
          <a:rPr lang="en-US"/>
          <a:t>make sure you are using a consistent brand package &amp; colors</a:t>
        </a:r>
      </a:p>
    </p188:txBody>
  </p188:cm>
  <p188:cm id="{CE189066-A4F1-4BD8-A692-A1C621758FD3}" authorId="{6424964C-B125-1569-BE2C-C30586E4137E}" status="resolved" created="2025-04-04T15:31:45.795" complete="100000">
    <ac:txMkLst xmlns:ac="http://schemas.microsoft.com/office/drawing/2013/main/command">
      <pc:docMk xmlns:pc="http://schemas.microsoft.com/office/powerpoint/2013/main/command"/>
      <pc:sldMk xmlns:pc="http://schemas.microsoft.com/office/powerpoint/2013/main/command" cId="4196378726" sldId="257"/>
      <ac:spMk id="30" creationId="{D4B16D8A-264E-367C-4D4F-1B22406280DB}"/>
      <ac:txMk cp="498" len="32">
        <ac:context len="533" hash="737257555"/>
      </ac:txMk>
    </ac:txMkLst>
    <p188:pos x="7561690" y="2862469"/>
    <p188:txBody>
      <a:bodyPr/>
      <a:lstStyle/>
      <a:p>
        <a:r>
          <a:rPr lang="en-US"/>
          <a:t>how much did this occur?</a:t>
        </a:r>
      </a:p>
    </p188:txBody>
  </p188:cm>
  <p188:cm id="{C424B395-8AE0-47DA-9582-1CF2C8F3285D}" authorId="{6424964C-B125-1569-BE2C-C30586E4137E}" status="resolved" created="2025-04-04T15:32:07.608" complete="100000">
    <ac:txMkLst xmlns:ac="http://schemas.microsoft.com/office/drawing/2013/main/command">
      <pc:docMk xmlns:pc="http://schemas.microsoft.com/office/powerpoint/2013/main/command"/>
      <pc:sldMk xmlns:pc="http://schemas.microsoft.com/office/powerpoint/2013/main/command" cId="4196378726" sldId="257"/>
      <ac:spMk id="30" creationId="{D4B16D8A-264E-367C-4D4F-1B22406280DB}"/>
      <ac:txMk cp="18" len="195">
        <ac:context len="533" hash="737257555"/>
      </ac:txMk>
    </ac:txMkLst>
    <p188:pos x="5057029" y="1574358"/>
    <p188:txBody>
      <a:bodyPr/>
      <a:lstStyle/>
      <a:p>
        <a:r>
          <a:rPr lang="en-US"/>
          <a:t>why is this a limitation - what may it have done to the results?</a:t>
        </a:r>
      </a:p>
    </p188:txBody>
  </p188:cm>
  <p188:cm id="{DBB70766-C391-4130-8516-F36C3A290773}" authorId="{6424964C-B125-1569-BE2C-C30586E4137E}" status="resolved" created="2025-04-04T15:34:28.471" complete="100000">
    <ac:txMkLst xmlns:ac="http://schemas.microsoft.com/office/drawing/2013/main/command">
      <pc:docMk xmlns:pc="http://schemas.microsoft.com/office/powerpoint/2013/main/command"/>
      <pc:sldMk xmlns:pc="http://schemas.microsoft.com/office/powerpoint/2013/main/command" cId="4196378726" sldId="257"/>
      <ac:spMk id="64" creationId="{2BC342E2-B734-0F81-36E1-FA3E4CD2C07F}"/>
      <ac:txMk cp="364" len="143">
        <ac:context len="744" hash="22602191"/>
      </ac:txMk>
    </ac:txMkLst>
    <p188:pos x="2814761" y="6464410"/>
    <p188:txBody>
      <a:bodyPr/>
      <a:lstStyle/>
      <a:p>
        <a:r>
          <a:rPr lang="en-US"/>
          <a:t>stop at outside &amp; center backs or are there other examples?</a:t>
        </a:r>
      </a:p>
    </p188:txBody>
  </p188:cm>
  <p188:cm id="{0E9044BB-9C65-498A-8D13-748308ABF1E3}" authorId="{6424964C-B125-1569-BE2C-C30586E4137E}" status="resolved" created="2025-04-04T15:34:50.237" complete="100000">
    <ac:txMkLst xmlns:ac="http://schemas.microsoft.com/office/drawing/2013/main/command">
      <pc:docMk xmlns:pc="http://schemas.microsoft.com/office/powerpoint/2013/main/command"/>
      <pc:sldMk xmlns:pc="http://schemas.microsoft.com/office/powerpoint/2013/main/command" cId="4196378726" sldId="257"/>
      <ac:spMk id="64" creationId="{2BC342E2-B734-0F81-36E1-FA3E4CD2C07F}"/>
      <ac:txMk cp="618" len="7">
        <ac:context len="744" hash="22602191"/>
      </ac:txMk>
    </ac:txMkLst>
    <p188:pos x="8539700" y="6917634"/>
    <p188:replyLst>
      <p188:reply id="{F09E9342-4735-41E8-ACA6-59119E90E25D}" authorId="{64F57ECF-2288-48B3-CF7A-9A554807A25C}" created="2025-04-05T17:08:32.056">
        <p188:txBody>
          <a:bodyPr/>
          <a:lstStyle/>
          <a:p>
            <a:r>
              <a:rPr lang="en-US"/>
              <a:t>this was meant to be first half/second half comparisons but I see how period specific is unclear</a:t>
            </a:r>
          </a:p>
        </p188:txBody>
      </p188:reply>
    </p188:replyLst>
    <p188:txBody>
      <a:bodyPr/>
      <a:lstStyle/>
      <a:p>
        <a:r>
          <a:rPr lang="en-US"/>
          <a:t>what do you mean by this?</a:t>
        </a:r>
      </a:p>
    </p188:txBody>
  </p188:cm>
  <p188:cm id="{BF545E03-0C38-45E5-AB72-8D4406C3501E}" authorId="{6424964C-B125-1569-BE2C-C30586E4137E}" status="resolved" created="2025-04-04T15:35:10.815" complete="100000">
    <ac:deMkLst xmlns:ac="http://schemas.microsoft.com/office/drawing/2013/main/command">
      <pc:docMk xmlns:pc="http://schemas.microsoft.com/office/powerpoint/2013/main/command"/>
      <pc:sldMk xmlns:pc="http://schemas.microsoft.com/office/powerpoint/2013/main/command" cId="4196378726" sldId="257"/>
      <ac:spMk id="19" creationId="{DB402CB4-2801-0EAC-1662-D4C7480343ED}"/>
    </ac:deMkLst>
    <p188:txBody>
      <a:bodyPr/>
      <a:lstStyle/>
      <a:p>
        <a:r>
          <a:rPr lang="en-US"/>
          <a:t>get rid of the white space at the bottom of this, please</a:t>
        </a:r>
      </a:p>
    </p188:txBody>
  </p188:cm>
  <p188:cm id="{30F88BE0-21B1-405B-B682-D035C47AB1CC}" authorId="{BC1104D8-A139-45F4-1343-3559A59B6A7B}" created="2025-04-06T23:39:17.196">
    <ac:txMkLst xmlns:ac="http://schemas.microsoft.com/office/drawing/2013/main/command">
      <pc:docMk xmlns:pc="http://schemas.microsoft.com/office/powerpoint/2013/main/command"/>
      <pc:sldMk xmlns:pc="http://schemas.microsoft.com/office/powerpoint/2013/main/command" cId="4196378726" sldId="257"/>
      <ac:spMk id="31" creationId="{57D9CF5E-282D-F384-06E6-D27B038EB308}"/>
      <ac:txMk cp="289">
        <ac:context len="991" hash="1326309732"/>
      </ac:txMk>
    </ac:txMkLst>
    <p188:pos x="10224654" y="7387936"/>
    <p188:txBody>
      <a:bodyPr/>
      <a:lstStyle/>
      <a:p>
        <a:r>
          <a:rPr lang="en-US"/>
          <a:t>not sure if we want to be this detailed in conclusion</a:t>
        </a:r>
      </a:p>
    </p188:txBody>
  </p188:cm>
  <p188:cm id="{1637C584-BCC5-445E-B020-CA9229995948}" authorId="{6424964C-B125-1569-BE2C-C30586E4137E}" status="resolved" created="2025-04-08T16:10:53.935" complete="100000">
    <ac:txMkLst xmlns:ac="http://schemas.microsoft.com/office/drawing/2013/main/command">
      <pc:docMk xmlns:pc="http://schemas.microsoft.com/office/powerpoint/2013/main/command"/>
      <pc:sldMk xmlns:pc="http://schemas.microsoft.com/office/powerpoint/2013/main/command" cId="4196378726" sldId="257"/>
      <ac:spMk id="27" creationId="{71821329-6FCD-F5E7-AF4A-F8C3F83807D9}"/>
      <ac:txMk cp="196" len="117">
        <ac:context len="1364" hash="755564237"/>
      </ac:txMk>
    </ac:txMkLst>
    <p188:pos x="4532243" y="3267986"/>
    <p188:txBody>
      <a:bodyPr/>
      <a:lstStyle/>
      <a:p>
        <a:r>
          <a:rPr lang="en-US"/>
          <a:t>why? (be concise)</a:t>
        </a:r>
      </a:p>
    </p188:txBody>
  </p188:cm>
  <p188:cm id="{1274B87F-E14E-4282-BD5C-BF4BC8A2EE65}" authorId="{6424964C-B125-1569-BE2C-C30586E4137E}" status="resolved" created="2025-04-08T16:12:02.076" complete="100000">
    <ac:txMkLst xmlns:ac="http://schemas.microsoft.com/office/drawing/2013/main/command">
      <pc:docMk xmlns:pc="http://schemas.microsoft.com/office/powerpoint/2013/main/command"/>
      <pc:sldMk xmlns:pc="http://schemas.microsoft.com/office/powerpoint/2013/main/command" cId="4196378726" sldId="257"/>
      <ac:spMk id="27" creationId="{71821329-6FCD-F5E7-AF4A-F8C3F83807D9}"/>
      <ac:txMk cp="477">
        <ac:context len="1364" hash="755564237"/>
      </ac:txMk>
    </ac:txMkLst>
    <p188:pos x="7203881" y="4985467"/>
    <p188:txBody>
      <a:bodyPr/>
      <a:lstStyle/>
      <a:p>
        <a:r>
          <a:rPr lang="en-US"/>
          <a:t>no, they are wearing Catapult Vector S7 Units, which contain a GPS and IMU. They are worn between an athlete's scapulae to track movement</a:t>
        </a:r>
      </a:p>
    </p188:txBody>
  </p188:cm>
  <p188:cm id="{3DD3DE45-E8A9-4069-B5C7-133C5E0F28AE}" authorId="{6424964C-B125-1569-BE2C-C30586E4137E}" status="resolved" created="2025-04-08T16:13:55.185" complete="100000">
    <ac:txMkLst xmlns:ac="http://schemas.microsoft.com/office/drawing/2013/main/command">
      <pc:docMk xmlns:pc="http://schemas.microsoft.com/office/powerpoint/2013/main/command"/>
      <pc:sldMk xmlns:pc="http://schemas.microsoft.com/office/powerpoint/2013/main/command" cId="4196378726" sldId="257"/>
      <ac:spMk id="27" creationId="{71821329-6FCD-F5E7-AF4A-F8C3F83807D9}"/>
      <ac:txMk cp="937" len="20">
        <ac:context len="1364" hash="755564237"/>
      </ac:txMk>
    </ac:txMkLst>
    <p188:pos x="8539700" y="9708542"/>
    <p188:txBody>
      <a:bodyPr/>
      <a:lstStyle/>
      <a:p>
        <a:r>
          <a:rPr lang="en-US"/>
          <a:t>personal (or individualized) career maximum velocity</a:t>
        </a:r>
      </a:p>
    </p188:txBody>
  </p188:cm>
  <p188:cm id="{FC6A619B-32B4-441D-A910-8CD1BD63F869}" authorId="{6424964C-B125-1569-BE2C-C30586E4137E}" status="resolved" created="2025-04-08T16:14:52.326" complete="100000">
    <ac:txMkLst xmlns:ac="http://schemas.microsoft.com/office/drawing/2013/main/command">
      <pc:docMk xmlns:pc="http://schemas.microsoft.com/office/powerpoint/2013/main/command"/>
      <pc:sldMk xmlns:pc="http://schemas.microsoft.com/office/powerpoint/2013/main/command" cId="4196378726" sldId="257"/>
      <ac:spMk id="27" creationId="{71821329-6FCD-F5E7-AF4A-F8C3F83807D9}"/>
      <ac:txMk cp="1249" len="6">
        <ac:context len="1364" hash="755564237"/>
      </ac:txMk>
    </ac:txMkLst>
    <p188:pos x="5462546" y="12714135"/>
    <p188:txBody>
      <a:bodyPr/>
      <a:lstStyle/>
      <a:p>
        <a:r>
          <a:rPr lang="en-US"/>
          <a:t>volume only</a:t>
        </a:r>
      </a:p>
    </p188:txBody>
  </p188:cm>
  <p188:cm id="{8592256C-34C0-478B-863E-0D38093A3DC3}" authorId="{6424964C-B125-1569-BE2C-C30586E4137E}" status="resolved" created="2025-04-08T16:16:36.420" complete="100000">
    <ac:txMkLst xmlns:ac="http://schemas.microsoft.com/office/drawing/2013/main/command">
      <pc:docMk xmlns:pc="http://schemas.microsoft.com/office/powerpoint/2013/main/command"/>
      <pc:sldMk xmlns:pc="http://schemas.microsoft.com/office/powerpoint/2013/main/command" cId="4196378726" sldId="257"/>
      <ac:spMk id="27" creationId="{71821329-6FCD-F5E7-AF4A-F8C3F83807D9}"/>
      <ac:txMk cp="1251">
        <ac:context len="1364" hash="755564237"/>
      </ac:txMk>
    </ac:txMkLst>
    <p188:pos x="4890052" y="13572876"/>
    <p188:txBody>
      <a:bodyPr/>
      <a:lstStyle/>
      <a:p>
        <a:r>
          <a:rPr lang="en-US"/>
          <a:t>when you say impact, it seems as though you are referring to internal workload done. Catapults (and all IMU wearables) only measure external load. Get away from saying that we are assessing impact (internal load) because we aren't. We are assessing the volume of the external workload (objectively, what did the player do at training?)</a:t>
        </a:r>
      </a:p>
    </p188:txBody>
    <p188:extLst>
      <p:ext xmlns:p="http://schemas.openxmlformats.org/presentationml/2006/main" uri="{57CB4572-C831-44C2-8A1C-0ADB6CCDFE69}">
        <p223:reactions xmlns:p223="http://schemas.microsoft.com/office/powerpoint/2022/03/main">
          <p223:rxn type="👍">
            <p223:instance time="2025-04-08T18:41:30.818" authorId="{64F57ECF-2288-48B3-CF7A-9A554807A25C}"/>
          </p223:rxn>
        </p223:reactions>
      </p:ext>
    </p188:extLst>
  </p188:cm>
  <p188:cm id="{9854FDD7-2651-4220-83ED-2AF46AE56DD5}" authorId="{6424964C-B125-1569-BE2C-C30586E4137E}" status="resolved" created="2025-04-08T16:16:59.545" complete="100000">
    <ac:txMkLst xmlns:ac="http://schemas.microsoft.com/office/drawing/2013/main/command">
      <pc:docMk xmlns:pc="http://schemas.microsoft.com/office/powerpoint/2013/main/command"/>
      <pc:sldMk xmlns:pc="http://schemas.microsoft.com/office/powerpoint/2013/main/command" cId="4196378726" sldId="257"/>
      <ac:spMk id="83" creationId="{0661B20D-1CB6-481C-BA34-BC017BAB1B04}"/>
      <ac:txMk cp="1" len="1">
        <ac:context len="346" hash="2927037012"/>
      </ac:txMk>
    </ac:txMkLst>
    <p188:pos x="2122998" y="524786"/>
    <p188:txBody>
      <a:bodyPr/>
      <a:lstStyle/>
      <a:p>
        <a:r>
          <a:rPr lang="en-US"/>
          <a:t>get rid of the "our" (on both these points)</a:t>
        </a:r>
      </a:p>
    </p188:txBody>
  </p188:cm>
  <p188:cm id="{A716C97B-0A17-4F03-BD42-1F140DE05B77}" authorId="{6424964C-B125-1569-BE2C-C30586E4137E}" status="resolved" created="2025-04-08T16:17:21.842" complete="100000">
    <ac:txMkLst xmlns:ac="http://schemas.microsoft.com/office/drawing/2013/main/command">
      <pc:docMk xmlns:pc="http://schemas.microsoft.com/office/powerpoint/2013/main/command"/>
      <pc:sldMk xmlns:pc="http://schemas.microsoft.com/office/powerpoint/2013/main/command" cId="4196378726" sldId="257"/>
      <ac:spMk id="83" creationId="{0661B20D-1CB6-481C-BA34-BC017BAB1B04}"/>
      <ac:txMk cp="227" len="3">
        <ac:context len="346" hash="2927037012"/>
      </ac:txMk>
    </ac:txMkLst>
    <p188:pos x="3530379" y="2671638"/>
    <p188:txBody>
      <a:bodyPr/>
      <a:lstStyle/>
      <a:p>
        <a:r>
          <a:rPr lang="en-US"/>
          <a:t>just say "Why?" and bold it</a:t>
        </a:r>
      </a:p>
    </p188:txBody>
  </p188:cm>
  <p188:cm id="{5F7C4059-D72B-482B-B6CA-6B1D8C35488D}" authorId="{6424964C-B125-1569-BE2C-C30586E4137E}" created="2025-04-08T16:18:20.686">
    <ac:txMkLst xmlns:ac="http://schemas.microsoft.com/office/drawing/2013/main/command">
      <pc:docMk xmlns:pc="http://schemas.microsoft.com/office/powerpoint/2013/main/command"/>
      <pc:sldMk xmlns:pc="http://schemas.microsoft.com/office/powerpoint/2013/main/command" cId="4196378726" sldId="257"/>
      <ac:spMk id="29" creationId="{9826319A-9933-CDF3-5B45-507F72EE5122}"/>
      <ac:txMk cp="100">
        <ac:context len="545" hash="201020575"/>
      </ac:txMk>
    </ac:txMkLst>
    <p188:pos x="8587408" y="1979874"/>
    <p188:txBody>
      <a:bodyPr/>
      <a:lstStyle/>
      <a:p>
        <a:r>
          <a:rPr lang="en-US"/>
          <a:t>no comments to change anything here, but be prepared for questions about why you looked at fall matches, but spring training. totally fine, but have a good answer for this when people ask</a:t>
        </a:r>
      </a:p>
    </p188:txBody>
    <p188:extLst>
      <p:ext xmlns:p="http://schemas.openxmlformats.org/presentationml/2006/main" uri="{57CB4572-C831-44C2-8A1C-0ADB6CCDFE69}">
        <p223:reactions xmlns:p223="http://schemas.microsoft.com/office/powerpoint/2022/03/main">
          <p223:rxn type="👍">
            <p223:instance time="2025-04-08T17:54:43.991" authorId="{64F57ECF-2288-48B3-CF7A-9A554807A25C}"/>
          </p223:rxn>
        </p223:reactions>
      </p:ext>
    </p188:extLst>
  </p188:cm>
  <p188:cm id="{05A3764B-1AFB-4841-857C-B08DEAC1EA7D}" authorId="{6424964C-B125-1569-BE2C-C30586E4137E}" status="resolved" created="2025-04-08T16:19:14.201" complete="100000">
    <ac:txMkLst xmlns:ac="http://schemas.microsoft.com/office/drawing/2013/main/command">
      <pc:docMk xmlns:pc="http://schemas.microsoft.com/office/powerpoint/2013/main/command"/>
      <pc:sldMk xmlns:pc="http://schemas.microsoft.com/office/powerpoint/2013/main/command" cId="4196378726" sldId="257"/>
      <ac:spMk id="29" creationId="{9826319A-9933-CDF3-5B45-507F72EE5122}"/>
      <ac:txMk cp="399">
        <ac:context len="545" hash="201020575"/>
      </ac:txMk>
    </ac:txMkLst>
    <p188:pos x="9422295" y="4126726"/>
    <p188:txBody>
      <a:bodyPr/>
      <a:lstStyle/>
      <a:p>
        <a:r>
          <a:rPr lang="en-US"/>
          <a:t>just take out "ran" (you don't want to use the passive tense)</a:t>
        </a:r>
      </a:p>
    </p188:txBody>
  </p188:cm>
  <p188:cm id="{2CEA6BAA-E29A-4D4B-A466-42E883864B42}" authorId="{6424964C-B125-1569-BE2C-C30586E4137E}" status="resolved" created="2025-04-08T16:20:20.061" complete="100000">
    <ac:txMkLst xmlns:ac="http://schemas.microsoft.com/office/drawing/2013/main/command">
      <pc:docMk xmlns:pc="http://schemas.microsoft.com/office/powerpoint/2013/main/command"/>
      <pc:sldMk xmlns:pc="http://schemas.microsoft.com/office/powerpoint/2013/main/command" cId="4196378726" sldId="257"/>
      <ac:spMk id="29" creationId="{9826319A-9933-CDF3-5B45-507F72EE5122}"/>
      <ac:txMk cp="389">
        <ac:context len="545" hash="201020575"/>
      </ac:txMk>
    </ac:txMkLst>
    <p188:pos x="5581815" y="5414838"/>
    <p188:txBody>
      <a:bodyPr/>
      <a:lstStyle/>
      <a:p>
        <a:r>
          <a:rPr lang="en-US"/>
          <a:t>again, get rid of this so you are not in the  passive tense. try to keep the poster in the active present tense or the active past tense.</a:t>
        </a:r>
      </a:p>
    </p188:txBody>
  </p188:cm>
  <p188:cm id="{DB52B0FC-C440-4467-B522-9D422357D148}" authorId="{6424964C-B125-1569-BE2C-C30586E4137E}" status="resolved" created="2025-04-08T16:29:47.219" complete="100000">
    <ac:txMkLst xmlns:ac="http://schemas.microsoft.com/office/drawing/2013/main/command">
      <pc:docMk xmlns:pc="http://schemas.microsoft.com/office/powerpoint/2013/main/command"/>
      <pc:sldMk xmlns:pc="http://schemas.microsoft.com/office/powerpoint/2013/main/command" cId="4196378726" sldId="257"/>
      <ac:spMk id="29" creationId="{9826319A-9933-CDF3-5B45-507F72EE5122}"/>
      <ac:txMk cp="491">
        <ac:context len="545" hash="201020575"/>
      </ac:txMk>
    </ac:txMkLst>
    <p188:pos x="6154309" y="6273579"/>
    <p188:txBody>
      <a:bodyPr/>
      <a:lstStyle/>
      <a:p>
        <a:r>
          <a:rPr lang="en-US"/>
          <a:t>tense</a:t>
        </a:r>
      </a:p>
    </p188:txBody>
  </p188:cm>
  <p188:cm id="{86B9835F-EF70-4F8D-9175-7674DD6497F7}" authorId="{6424964C-B125-1569-BE2C-C30586E4137E}" status="resolved" created="2025-04-08T16:32:04.797" complete="100000">
    <ac:txMkLst xmlns:ac="http://schemas.microsoft.com/office/drawing/2013/main/command">
      <pc:docMk xmlns:pc="http://schemas.microsoft.com/office/powerpoint/2013/main/command"/>
      <pc:sldMk xmlns:pc="http://schemas.microsoft.com/office/powerpoint/2013/main/command" cId="4196378726" sldId="257"/>
      <ac:spMk id="98" creationId="{A56B4ED3-6668-7C4F-C5F7-62503E08E5F0}"/>
      <ac:txMk cp="0">
        <ac:context len="167" hash="2730257953"/>
      </ac:txMk>
    </ac:txMkLst>
    <p188:pos x="1383526" y="524786"/>
    <p188:txBody>
      <a:bodyPr/>
      <a:lstStyle/>
      <a:p>
        <a:r>
          <a:rPr lang="en-US"/>
          <a:t>make sure formatting here matches the other two captions</a:t>
        </a:r>
      </a:p>
    </p188:txBody>
  </p188:cm>
  <p188:cm id="{35C18410-09B5-425A-AD2F-475B39F6D921}" authorId="{6424964C-B125-1569-BE2C-C30586E4137E}" status="resolved" created="2025-04-08T16:38:14.517" complete="100000">
    <ac:txMkLst xmlns:ac="http://schemas.microsoft.com/office/drawing/2013/main/command">
      <pc:docMk xmlns:pc="http://schemas.microsoft.com/office/powerpoint/2013/main/command"/>
      <pc:sldMk xmlns:pc="http://schemas.microsoft.com/office/powerpoint/2013/main/command" cId="4196378726" sldId="257"/>
      <ac:spMk id="14" creationId="{E0060738-7659-CD4C-1D4F-A512061A4AC4}"/>
      <ac:txMk cp="0" len="7">
        <ac:context len="8" hash="546558143"/>
      </ac:txMk>
    </ac:txMkLst>
    <p188:pos x="11855394" y="357808"/>
    <p188:txBody>
      <a:bodyPr/>
      <a:lstStyle/>
      <a:p>
        <a:r>
          <a:rPr lang="en-US"/>
          <a:t>great fixes here. For the bottom three graphs, work on formatting a bit. Can you make the titles all one line? or add a line break between the "80%)" and "by Position". Can you organize the captions better under the graphs. I know you all have some awkward sizing. Maybe bump figure 3 to the side and put the caption next to it? that will give you a bit more room to center the captions for figures 2.1 and 2.2 underneath them. Last thing- the Tables should be labeled "Table 1.1" and "Table 1.2", making the graphs "Figure 1.1", "Figure 1.2" and "Figure 2"</a:t>
        </a:r>
      </a:p>
    </p188:txBody>
  </p188:cm>
  <p188:cm id="{163D7497-AE2B-4EFC-AC50-373913608346}" authorId="{6424964C-B125-1569-BE2C-C30586E4137E}" status="resolved" created="2025-04-08T16:39:21.064" complete="100000">
    <ac:txMkLst xmlns:ac="http://schemas.microsoft.com/office/drawing/2013/main/command">
      <pc:docMk xmlns:pc="http://schemas.microsoft.com/office/powerpoint/2013/main/command"/>
      <pc:sldMk xmlns:pc="http://schemas.microsoft.com/office/powerpoint/2013/main/command" cId="4196378726" sldId="257"/>
      <ac:spMk id="31" creationId="{57D9CF5E-282D-F384-06E6-D27B038EB308}"/>
      <ac:txMk cp="12" len="36">
        <ac:context len="991" hash="1326309732"/>
      </ac:txMk>
    </ac:txMkLst>
    <p188:pos x="8945217" y="1121133"/>
    <p188:txBody>
      <a:bodyPr/>
      <a:lstStyle/>
      <a:p>
        <a:r>
          <a:rPr lang="en-US"/>
          <a:t>at the end of this phrase, add (p&lt;0.05), just to remind your reader</a:t>
        </a:r>
      </a:p>
    </p188:txBody>
  </p188:cm>
  <p188:cm id="{8EB0915A-24A4-4C20-B154-FD83DB91E544}" authorId="{6424964C-B125-1569-BE2C-C30586E4137E}" status="resolved" created="2025-04-08T16:40:21.408" complete="100000">
    <ac:txMkLst xmlns:ac="http://schemas.microsoft.com/office/drawing/2013/main/command">
      <pc:docMk xmlns:pc="http://schemas.microsoft.com/office/powerpoint/2013/main/command"/>
      <pc:sldMk xmlns:pc="http://schemas.microsoft.com/office/powerpoint/2013/main/command" cId="4196378726" sldId="257"/>
      <ac:spMk id="31" creationId="{57D9CF5E-282D-F384-06E6-D27B038EB308}"/>
      <ac:txMk cp="408" len="37">
        <ac:context len="991" hash="1326309732"/>
      </ac:txMk>
    </ac:txMkLst>
    <p188:pos x="9207610" y="4556097"/>
    <p188:txBody>
      <a:bodyPr/>
      <a:lstStyle/>
      <a:p>
        <a:r>
          <a:rPr lang="en-US"/>
          <a:t>pay attention to what is plural vs singular here. drop the "a"</a:t>
        </a:r>
      </a:p>
    </p188:txBody>
  </p188:cm>
  <p188:cm id="{AF8A52F9-D649-41CE-9A03-A722FF4DB548}" authorId="{6424964C-B125-1569-BE2C-C30586E4137E}" status="resolved" created="2025-04-08T16:40:56.580" complete="100000">
    <ac:txMkLst xmlns:ac="http://schemas.microsoft.com/office/drawing/2013/main/command">
      <pc:docMk xmlns:pc="http://schemas.microsoft.com/office/powerpoint/2013/main/command"/>
      <pc:sldMk xmlns:pc="http://schemas.microsoft.com/office/powerpoint/2013/main/command" cId="4196378726" sldId="257"/>
      <ac:spMk id="31" creationId="{57D9CF5E-282D-F384-06E6-D27B038EB308}"/>
      <ac:txMk cp="532">
        <ac:context len="991" hash="1326309732"/>
      </ac:txMk>
    </ac:txMkLst>
    <p188:pos x="7442420" y="4985467"/>
    <p188:txBody>
      <a:bodyPr/>
      <a:lstStyle/>
      <a:p>
        <a:r>
          <a:rPr lang="en-US"/>
          <a:t>for what? you can say "for all key metrics"</a:t>
        </a:r>
      </a:p>
    </p188:txBody>
  </p188:cm>
  <p188:cm id="{E4CCEF89-B32B-4D65-B44B-7D915D8654E7}" authorId="{6424964C-B125-1569-BE2C-C30586E4137E}" status="resolved" created="2025-04-08T16:41:35.815" complete="100000">
    <ac:txMkLst xmlns:ac="http://schemas.microsoft.com/office/drawing/2013/main/command">
      <pc:docMk xmlns:pc="http://schemas.microsoft.com/office/powerpoint/2013/main/command"/>
      <pc:sldMk xmlns:pc="http://schemas.microsoft.com/office/powerpoint/2013/main/command" cId="4196378726" sldId="257"/>
      <ac:spMk id="31" creationId="{57D9CF5E-282D-F384-06E6-D27B038EB308}"/>
      <ac:txMk cp="874" len="14">
        <ac:context len="991" hash="1326309732"/>
      </ac:txMk>
    </ac:txMkLst>
    <p188:pos x="6488264" y="8420431"/>
    <p188:txBody>
      <a:bodyPr/>
      <a:lstStyle/>
      <a:p>
        <a:r>
          <a:rPr lang="en-US"/>
          <a:t>"...minute, indicating..."</a:t>
        </a:r>
      </a:p>
    </p188:txBody>
  </p188:cm>
  <p188:cm id="{196EE3F9-0874-4D84-A154-EDF59C27C554}" authorId="{6424964C-B125-1569-BE2C-C30586E4137E}" created="2025-04-08T16:42:28.205">
    <ac:txMkLst xmlns:ac="http://schemas.microsoft.com/office/drawing/2013/main/command">
      <pc:docMk xmlns:pc="http://schemas.microsoft.com/office/powerpoint/2013/main/command"/>
      <pc:sldMk xmlns:pc="http://schemas.microsoft.com/office/powerpoint/2013/main/command" cId="4196378726" sldId="257"/>
      <ac:spMk id="64" creationId="{2BC342E2-B734-0F81-36E1-FA3E4CD2C07F}"/>
      <ac:txMk cp="0" len="446">
        <ac:context len="744" hash="22602191"/>
      </ac:txMk>
    </ac:txMkLst>
    <p188:pos x="3339547" y="5557961"/>
    <p188:txBody>
      <a:bodyPr/>
      <a:lstStyle/>
      <a:p>
        <a:r>
          <a:rPr lang="en-US"/>
          <a:t>formatting here. font consistency</a:t>
        </a:r>
      </a:p>
    </p188:txBody>
  </p188:cm>
  <p188:cm id="{334AC558-48FA-4524-9780-D74542ED27C6}" authorId="{6424964C-B125-1569-BE2C-C30586E4137E}" created="2025-04-08T16:45:25.299">
    <ac:deMkLst xmlns:ac="http://schemas.microsoft.com/office/drawing/2013/main/command">
      <pc:docMk xmlns:pc="http://schemas.microsoft.com/office/powerpoint/2013/main/command"/>
      <pc:sldMk xmlns:pc="http://schemas.microsoft.com/office/powerpoint/2013/main/command" cId="4196378726" sldId="257"/>
      <ac:spMk id="7" creationId="{84415A9A-37C8-25CE-A57B-6EF6816E1145}"/>
    </ac:deMkLst>
    <p188:txBody>
      <a:bodyPr/>
      <a:lstStyle/>
      <a:p>
        <a:r>
          <a:rPr lang="en-US"/>
          <a:t>Overall, this is great. The content is awesome and nearly done, just a couple of things in your limitations. Finish the formatting and take a scan through to double check consistency in grammar. Are you adding periods at the end of your bullet points? be consistent. Scan the tense to make sure everything is in the same tense. Should always be active, but then make sure the rest is past or present. Next steps can be different from the rest of the poster (as present or future), but everything else needs to be the same</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0" y="5387342"/>
            <a:ext cx="32918400" cy="11460480"/>
          </a:xfrm>
        </p:spPr>
        <p:txBody>
          <a:bodyPr anchor="b"/>
          <a:lstStyle>
            <a:lvl1pPr algn="ctr">
              <a:defRPr sz="21600"/>
            </a:lvl1pPr>
          </a:lstStyle>
          <a:p>
            <a:r>
              <a:rPr lang="en-US"/>
              <a:t>Click to edit Master title style</a:t>
            </a:r>
          </a:p>
        </p:txBody>
      </p:sp>
      <p:sp>
        <p:nvSpPr>
          <p:cNvPr id="3" name="Subtitle 2"/>
          <p:cNvSpPr>
            <a:spLocks noGrp="1"/>
          </p:cNvSpPr>
          <p:nvPr>
            <p:ph type="subTitle" idx="1"/>
          </p:nvPr>
        </p:nvSpPr>
        <p:spPr>
          <a:xfrm>
            <a:off x="5486400" y="17289782"/>
            <a:ext cx="32918400" cy="7947658"/>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8/21/26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1600"/>
            </a:lvl1pPr>
          </a:lstStyle>
          <a:p>
            <a:r>
              <a:rPr lang="en-US"/>
              <a:t>Click to edit Master title style</a:t>
            </a:r>
          </a:p>
        </p:txBody>
      </p:sp>
      <p:sp>
        <p:nvSpPr>
          <p:cNvPr id="3" name="Text Placeholder 2"/>
          <p:cNvSpPr>
            <a:spLocks noGrp="1"/>
          </p:cNvSpPr>
          <p:nvPr>
            <p:ph type="body" idx="1"/>
          </p:nvPr>
        </p:nvSpPr>
        <p:spPr>
          <a:xfrm>
            <a:off x="2994662" y="22029429"/>
            <a:ext cx="37856160" cy="7200898"/>
          </a:xfrm>
        </p:spPr>
        <p:txBody>
          <a:bodyPr/>
          <a:lstStyle>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8/21/26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8/21/26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8/21/26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1520"/>
            </a:lvl1pPr>
          </a:lstStyle>
          <a:p>
            <a:r>
              <a:rPr lang="en-US"/>
              <a:t>Click to edit Master title style</a:t>
            </a:r>
          </a:p>
        </p:txBody>
      </p:sp>
      <p:sp>
        <p:nvSpPr>
          <p:cNvPr id="3" name="Content Placeholder 2"/>
          <p:cNvSpPr>
            <a:spLocks noGrp="1"/>
          </p:cNvSpPr>
          <p:nvPr>
            <p:ph idx="1"/>
          </p:nvPr>
        </p:nvSpPr>
        <p:spPr>
          <a:xfrm>
            <a:off x="18659477" y="4739647"/>
            <a:ext cx="22219920" cy="233934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1520"/>
            </a:lvl1pPr>
          </a:lstStyle>
          <a:p>
            <a:r>
              <a:rPr lang="en-US"/>
              <a:t>Click to edit Master title style</a:t>
            </a:r>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4320">
                <a:solidFill>
                  <a:schemeClr val="tx1">
                    <a:tint val="82000"/>
                  </a:schemeClr>
                </a:solidFill>
              </a:defRPr>
            </a:lvl1pPr>
          </a:lstStyle>
          <a:p>
            <a:fld id="{846CE7D5-CF57-46EF-B807-FDD0502418D4}" type="datetimeFigureOut">
              <a:rPr lang="en-US" smtClean="0"/>
              <a:t>8/21/26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432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432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svg"/><Relationship Id="rId7" Type="http://schemas.openxmlformats.org/officeDocument/2006/relationships/image" Target="../media/image5.png"/><Relationship Id="rId2" Type="http://schemas.microsoft.com/office/2018/10/relationships/comments" Target="../comments/modernComment_101_FA1FA866.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sv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FC46FC5B-01E1-EE3E-55B6-DDFCDE3C4480}"/>
              </a:ext>
            </a:extLst>
          </p:cNvPr>
          <p:cNvGraphicFramePr>
            <a:graphicFrameLocks noGrp="1"/>
          </p:cNvGraphicFramePr>
          <p:nvPr>
            <p:extLst>
              <p:ext uri="{D42A27DB-BD31-4B8C-83A1-F6EECF244321}">
                <p14:modId xmlns:p14="http://schemas.microsoft.com/office/powerpoint/2010/main" val="2793627674"/>
              </p:ext>
            </p:extLst>
          </p:nvPr>
        </p:nvGraphicFramePr>
        <p:xfrm>
          <a:off x="11277600" y="7869381"/>
          <a:ext cx="11954666" cy="11374880"/>
        </p:xfrm>
        <a:graphic>
          <a:graphicData uri="http://schemas.openxmlformats.org/drawingml/2006/table">
            <a:tbl>
              <a:tblPr firstRow="1" bandRow="1">
                <a:tableStyleId>{073A0DAA-6AF3-43AB-8588-CEC1D06C72B9}</a:tableStyleId>
              </a:tblPr>
              <a:tblGrid>
                <a:gridCol w="3679242">
                  <a:extLst>
                    <a:ext uri="{9D8B030D-6E8A-4147-A177-3AD203B41FA5}">
                      <a16:colId xmlns:a16="http://schemas.microsoft.com/office/drawing/2014/main" val="21059846"/>
                    </a:ext>
                  </a:extLst>
                </a:gridCol>
                <a:gridCol w="2674181">
                  <a:extLst>
                    <a:ext uri="{9D8B030D-6E8A-4147-A177-3AD203B41FA5}">
                      <a16:colId xmlns:a16="http://schemas.microsoft.com/office/drawing/2014/main" val="848415442"/>
                    </a:ext>
                  </a:extLst>
                </a:gridCol>
                <a:gridCol w="2872474">
                  <a:extLst>
                    <a:ext uri="{9D8B030D-6E8A-4147-A177-3AD203B41FA5}">
                      <a16:colId xmlns:a16="http://schemas.microsoft.com/office/drawing/2014/main" val="2561935891"/>
                    </a:ext>
                  </a:extLst>
                </a:gridCol>
                <a:gridCol w="2728769">
                  <a:extLst>
                    <a:ext uri="{9D8B030D-6E8A-4147-A177-3AD203B41FA5}">
                      <a16:colId xmlns:a16="http://schemas.microsoft.com/office/drawing/2014/main" val="286608506"/>
                    </a:ext>
                  </a:extLst>
                </a:gridCol>
              </a:tblGrid>
              <a:tr h="905822">
                <a:tc>
                  <a:txBody>
                    <a:bodyPr/>
                    <a:lstStyle/>
                    <a:p>
                      <a:endParaRPr lang="en-US" sz="2900"/>
                    </a:p>
                  </a:txBody>
                  <a:tcPr marL="438912" marR="438912" marT="219456" marB="219456"/>
                </a:tc>
                <a:tc>
                  <a:txBody>
                    <a:bodyPr/>
                    <a:lstStyle/>
                    <a:p>
                      <a:pPr algn="ctr">
                        <a:buNone/>
                      </a:pPr>
                      <a:r>
                        <a:rPr lang="en-US" sz="2900" dirty="0"/>
                        <a:t>Defender</a:t>
                      </a:r>
                    </a:p>
                  </a:txBody>
                  <a:tcPr marL="0" marR="0" marT="0" marB="0" anchor="ctr" horzOverflow="overflow"/>
                </a:tc>
                <a:tc>
                  <a:txBody>
                    <a:bodyPr/>
                    <a:lstStyle/>
                    <a:p>
                      <a:pPr algn="ctr">
                        <a:buNone/>
                      </a:pPr>
                      <a:r>
                        <a:rPr lang="en-US" sz="2900" dirty="0"/>
                        <a:t>Midfielder</a:t>
                      </a:r>
                    </a:p>
                  </a:txBody>
                  <a:tcPr marL="0" marR="0" marT="0" marB="0" anchor="ctr" horzOverflow="overflow"/>
                </a:tc>
                <a:tc>
                  <a:txBody>
                    <a:bodyPr/>
                    <a:lstStyle/>
                    <a:p>
                      <a:pPr algn="ctr">
                        <a:buNone/>
                      </a:pPr>
                      <a:r>
                        <a:rPr lang="en-US" sz="2900" dirty="0"/>
                        <a:t>Attacker</a:t>
                      </a:r>
                    </a:p>
                  </a:txBody>
                  <a:tcPr marL="0" marR="0" marT="0" marB="0" anchor="ctr" horzOverflow="overflow"/>
                </a:tc>
                <a:extLst>
                  <a:ext uri="{0D108BD9-81ED-4DB2-BD59-A6C34878D82A}">
                    <a16:rowId xmlns:a16="http://schemas.microsoft.com/office/drawing/2014/main" val="3554892620"/>
                  </a:ext>
                </a:extLst>
              </a:tr>
              <a:tr h="877824">
                <a:tc>
                  <a:txBody>
                    <a:bodyPr/>
                    <a:lstStyle/>
                    <a:p>
                      <a:pPr lvl="0">
                        <a:buNone/>
                      </a:pPr>
                      <a:r>
                        <a:rPr lang="en-US" sz="2900" dirty="0"/>
                        <a:t>Duration (min)</a:t>
                      </a:r>
                    </a:p>
                  </a:txBody>
                  <a:tcPr marL="438912" marR="438912" marT="219456" marB="219456"/>
                </a:tc>
                <a:tc>
                  <a:txBody>
                    <a:bodyPr/>
                    <a:lstStyle/>
                    <a:p>
                      <a:pPr lvl="0">
                        <a:buNone/>
                      </a:pPr>
                      <a:r>
                        <a:rPr lang="en-US" sz="2900" dirty="0"/>
                        <a:t>70.41</a:t>
                      </a:r>
                    </a:p>
                  </a:txBody>
                  <a:tcPr marL="438912" marR="438912" marT="219456" marB="219456">
                    <a:lnR w="12700" cap="flat" cmpd="sng" algn="ctr">
                      <a:solidFill>
                        <a:schemeClr val="tx1"/>
                      </a:solidFill>
                      <a:prstDash val="solid"/>
                      <a:round/>
                      <a:headEnd type="none" w="med" len="med"/>
                      <a:tailEnd type="none" w="med" len="med"/>
                    </a:lnR>
                  </a:tcPr>
                </a:tc>
                <a:tc>
                  <a:txBody>
                    <a:bodyPr/>
                    <a:lstStyle/>
                    <a:p>
                      <a:pPr lvl="0">
                        <a:buNone/>
                      </a:pPr>
                      <a:r>
                        <a:rPr lang="en-US" sz="2900" dirty="0"/>
                        <a:t>66.38</a:t>
                      </a:r>
                    </a:p>
                  </a:txBody>
                  <a:tcPr marL="438912" marR="438912" marT="219456" marB="21945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lvl="0">
                        <a:buNone/>
                      </a:pPr>
                      <a:r>
                        <a:rPr lang="en-US" sz="2900" dirty="0"/>
                        <a:t>54.02</a:t>
                      </a:r>
                    </a:p>
                  </a:txBody>
                  <a:tcPr marL="438912" marR="438912" marT="219456" marB="219456">
                    <a:lnL w="12700" cap="flat" cmpd="sng" algn="ctr">
                      <a:solidFill>
                        <a:schemeClr val="tx1"/>
                      </a:solidFill>
                      <a:prstDash val="solid"/>
                      <a:round/>
                      <a:headEnd type="none" w="med" len="med"/>
                      <a:tailEnd type="none" w="med" len="med"/>
                    </a:lnL>
                    <a:lnR w="0" cap="flat" cmpd="sng" algn="ctr">
                      <a:noFill/>
                      <a:prstDash val="solid"/>
                      <a:round/>
                      <a:headEnd type="none" w="med" len="med"/>
                      <a:tailEnd type="none" w="med" len="med"/>
                    </a:lnR>
                  </a:tcPr>
                </a:tc>
                <a:extLst>
                  <a:ext uri="{0D108BD9-81ED-4DB2-BD59-A6C34878D82A}">
                    <a16:rowId xmlns:a16="http://schemas.microsoft.com/office/drawing/2014/main" val="1249686434"/>
                  </a:ext>
                </a:extLst>
              </a:tr>
              <a:tr h="1316736">
                <a:tc>
                  <a:txBody>
                    <a:bodyPr/>
                    <a:lstStyle/>
                    <a:p>
                      <a:r>
                        <a:rPr lang="en-US" sz="2900" dirty="0"/>
                        <a:t>Total Player Load (unitless)</a:t>
                      </a:r>
                    </a:p>
                  </a:txBody>
                  <a:tcPr marL="438912" marR="438912" marT="219456" marB="219456"/>
                </a:tc>
                <a:tc>
                  <a:txBody>
                    <a:bodyPr/>
                    <a:lstStyle/>
                    <a:p>
                      <a:pPr lvl="0">
                        <a:buNone/>
                      </a:pPr>
                      <a:r>
                        <a:rPr lang="en-US" sz="2900" dirty="0"/>
                        <a:t>748</a:t>
                      </a:r>
                    </a:p>
                  </a:txBody>
                  <a:tcPr marL="438912" marR="438912" marT="219456" marB="219456">
                    <a:lnR w="12700">
                      <a:solidFill>
                        <a:schemeClr val="tx1"/>
                      </a:solidFill>
                    </a:lnR>
                  </a:tcPr>
                </a:tc>
                <a:tc>
                  <a:txBody>
                    <a:bodyPr/>
                    <a:lstStyle/>
                    <a:p>
                      <a:pPr lvl="0">
                        <a:buNone/>
                      </a:pPr>
                      <a:r>
                        <a:rPr lang="en-US" sz="2900" dirty="0"/>
                        <a:t>790</a:t>
                      </a:r>
                    </a:p>
                  </a:txBody>
                  <a:tcPr marL="438912" marR="438912" marT="219456" marB="219456">
                    <a:lnL w="12700">
                      <a:solidFill>
                        <a:schemeClr val="tx1"/>
                      </a:solidFill>
                    </a:lnL>
                    <a:lnR w="12700">
                      <a:solidFill>
                        <a:schemeClr val="tx1"/>
                      </a:solidFill>
                    </a:lnR>
                  </a:tcPr>
                </a:tc>
                <a:tc>
                  <a:txBody>
                    <a:bodyPr/>
                    <a:lstStyle/>
                    <a:p>
                      <a:pPr lvl="0">
                        <a:buNone/>
                      </a:pPr>
                      <a:r>
                        <a:rPr lang="en-US" sz="2900" dirty="0"/>
                        <a:t>593</a:t>
                      </a:r>
                    </a:p>
                  </a:txBody>
                  <a:tcPr marL="438912" marR="438912" marT="219456" marB="219456">
                    <a:lnL w="12700">
                      <a:solidFill>
                        <a:schemeClr val="tx1"/>
                      </a:solidFill>
                    </a:lnL>
                    <a:lnR w="0" cap="flat" cmpd="sng" algn="ctr">
                      <a:noFill/>
                      <a:prstDash val="solid"/>
                      <a:round/>
                      <a:headEnd type="none" w="med" len="med"/>
                      <a:tailEnd type="none" w="med" len="med"/>
                    </a:lnR>
                  </a:tcPr>
                </a:tc>
                <a:extLst>
                  <a:ext uri="{0D108BD9-81ED-4DB2-BD59-A6C34878D82A}">
                    <a16:rowId xmlns:a16="http://schemas.microsoft.com/office/drawing/2014/main" val="297418794"/>
                  </a:ext>
                </a:extLst>
              </a:tr>
              <a:tr h="877824">
                <a:tc>
                  <a:txBody>
                    <a:bodyPr/>
                    <a:lstStyle/>
                    <a:p>
                      <a:r>
                        <a:rPr lang="en-US" sz="2900" dirty="0"/>
                        <a:t>Player Load/min </a:t>
                      </a:r>
                    </a:p>
                  </a:txBody>
                  <a:tcPr marL="438912" marR="438912" marT="219456" marB="219456"/>
                </a:tc>
                <a:tc>
                  <a:txBody>
                    <a:bodyPr/>
                    <a:lstStyle/>
                    <a:p>
                      <a:pPr lvl="0">
                        <a:buNone/>
                      </a:pPr>
                      <a:r>
                        <a:rPr lang="en-US" sz="2900" dirty="0"/>
                        <a:t>9.8</a:t>
                      </a:r>
                    </a:p>
                  </a:txBody>
                  <a:tcPr marL="438912" marR="438912" marT="219456" marB="219456">
                    <a:lnR w="12700">
                      <a:solidFill>
                        <a:schemeClr val="tx1"/>
                      </a:solidFill>
                    </a:lnR>
                  </a:tcPr>
                </a:tc>
                <a:tc>
                  <a:txBody>
                    <a:bodyPr/>
                    <a:lstStyle/>
                    <a:p>
                      <a:pPr lvl="0">
                        <a:buNone/>
                      </a:pPr>
                      <a:r>
                        <a:rPr lang="en-US" sz="2900" dirty="0"/>
                        <a:t>11.6</a:t>
                      </a:r>
                    </a:p>
                  </a:txBody>
                  <a:tcPr marL="438912" marR="438912" marT="219456" marB="219456">
                    <a:lnL w="12700">
                      <a:solidFill>
                        <a:schemeClr val="tx1"/>
                      </a:solidFill>
                    </a:lnL>
                    <a:lnR w="12700">
                      <a:solidFill>
                        <a:schemeClr val="tx1"/>
                      </a:solidFill>
                    </a:lnR>
                  </a:tcPr>
                </a:tc>
                <a:tc>
                  <a:txBody>
                    <a:bodyPr/>
                    <a:lstStyle/>
                    <a:p>
                      <a:pPr lvl="0">
                        <a:buNone/>
                      </a:pPr>
                      <a:r>
                        <a:rPr lang="en-US" sz="2900" dirty="0"/>
                        <a:t>10.1</a:t>
                      </a:r>
                    </a:p>
                  </a:txBody>
                  <a:tcPr marL="438912" marR="438912" marT="219456" marB="219456">
                    <a:lnL w="12700">
                      <a:solidFill>
                        <a:schemeClr val="tx1"/>
                      </a:solidFill>
                    </a:lnL>
                    <a:lnR w="0" cap="flat" cmpd="sng" algn="ctr">
                      <a:noFill/>
                      <a:prstDash val="solid"/>
                      <a:round/>
                      <a:headEnd type="none" w="med" len="med"/>
                      <a:tailEnd type="none" w="med" len="med"/>
                    </a:lnR>
                  </a:tcPr>
                </a:tc>
                <a:extLst>
                  <a:ext uri="{0D108BD9-81ED-4DB2-BD59-A6C34878D82A}">
                    <a16:rowId xmlns:a16="http://schemas.microsoft.com/office/drawing/2014/main" val="3118431348"/>
                  </a:ext>
                </a:extLst>
              </a:tr>
              <a:tr h="1316736">
                <a:tc>
                  <a:txBody>
                    <a:bodyPr/>
                    <a:lstStyle/>
                    <a:p>
                      <a:r>
                        <a:rPr lang="en-US" sz="2900" dirty="0"/>
                        <a:t>Total Distance (m)</a:t>
                      </a:r>
                    </a:p>
                  </a:txBody>
                  <a:tcPr marL="438912" marR="438912" marT="219456" marB="219456"/>
                </a:tc>
                <a:tc>
                  <a:txBody>
                    <a:bodyPr/>
                    <a:lstStyle/>
                    <a:p>
                      <a:pPr lvl="0">
                        <a:buNone/>
                      </a:pPr>
                      <a:r>
                        <a:rPr lang="en-US" sz="2900" dirty="0"/>
                        <a:t>7262</a:t>
                      </a:r>
                    </a:p>
                  </a:txBody>
                  <a:tcPr marL="438912" marR="438912" marT="219456" marB="219456">
                    <a:lnR w="12700">
                      <a:solidFill>
                        <a:schemeClr val="tx1"/>
                      </a:solidFill>
                    </a:lnR>
                  </a:tcPr>
                </a:tc>
                <a:tc>
                  <a:txBody>
                    <a:bodyPr/>
                    <a:lstStyle/>
                    <a:p>
                      <a:pPr lvl="0">
                        <a:buNone/>
                      </a:pPr>
                      <a:r>
                        <a:rPr lang="en-US" sz="2900" dirty="0"/>
                        <a:t>7331</a:t>
                      </a:r>
                    </a:p>
                  </a:txBody>
                  <a:tcPr marL="438912" marR="438912" marT="219456" marB="219456">
                    <a:lnL w="12700">
                      <a:solidFill>
                        <a:schemeClr val="tx1"/>
                      </a:solidFill>
                    </a:lnL>
                    <a:lnR w="12700">
                      <a:solidFill>
                        <a:schemeClr val="tx1"/>
                      </a:solidFill>
                    </a:lnR>
                  </a:tcPr>
                </a:tc>
                <a:tc>
                  <a:txBody>
                    <a:bodyPr/>
                    <a:lstStyle/>
                    <a:p>
                      <a:pPr lvl="0">
                        <a:buNone/>
                      </a:pPr>
                      <a:r>
                        <a:rPr lang="en-US" sz="2900" dirty="0"/>
                        <a:t>5780</a:t>
                      </a:r>
                    </a:p>
                  </a:txBody>
                  <a:tcPr marL="438912" marR="438912" marT="219456" marB="219456">
                    <a:lnL w="12700">
                      <a:solidFill>
                        <a:schemeClr val="tx1"/>
                      </a:solidFill>
                    </a:lnL>
                    <a:lnR w="0" cap="flat" cmpd="sng" algn="ctr">
                      <a:noFill/>
                      <a:prstDash val="solid"/>
                      <a:round/>
                      <a:headEnd type="none" w="med" len="med"/>
                      <a:tailEnd type="none" w="med" len="med"/>
                    </a:lnR>
                  </a:tcPr>
                </a:tc>
                <a:extLst>
                  <a:ext uri="{0D108BD9-81ED-4DB2-BD59-A6C34878D82A}">
                    <a16:rowId xmlns:a16="http://schemas.microsoft.com/office/drawing/2014/main" val="314780535"/>
                  </a:ext>
                </a:extLst>
              </a:tr>
              <a:tr h="1755648">
                <a:tc>
                  <a:txBody>
                    <a:bodyPr/>
                    <a:lstStyle/>
                    <a:p>
                      <a:r>
                        <a:rPr lang="en-US" sz="2900" dirty="0"/>
                        <a:t>Total High-Speed Distance (m)</a:t>
                      </a:r>
                    </a:p>
                  </a:txBody>
                  <a:tcPr marL="438912" marR="438912" marT="219456" marB="219456"/>
                </a:tc>
                <a:tc>
                  <a:txBody>
                    <a:bodyPr/>
                    <a:lstStyle/>
                    <a:p>
                      <a:pPr lvl="0">
                        <a:buNone/>
                      </a:pPr>
                      <a:r>
                        <a:rPr lang="en-US" sz="2900" dirty="0"/>
                        <a:t>42</a:t>
                      </a:r>
                    </a:p>
                  </a:txBody>
                  <a:tcPr marL="438912" marR="438912" marT="219456" marB="219456">
                    <a:lnR w="12700">
                      <a:solidFill>
                        <a:schemeClr val="tx1"/>
                      </a:solidFill>
                    </a:lnR>
                  </a:tcPr>
                </a:tc>
                <a:tc>
                  <a:txBody>
                    <a:bodyPr/>
                    <a:lstStyle/>
                    <a:p>
                      <a:pPr lvl="0">
                        <a:buNone/>
                      </a:pPr>
                      <a:r>
                        <a:rPr lang="en-US" sz="2900" dirty="0"/>
                        <a:t>54</a:t>
                      </a:r>
                    </a:p>
                  </a:txBody>
                  <a:tcPr marL="438912" marR="438912" marT="219456" marB="219456">
                    <a:lnL w="12700">
                      <a:solidFill>
                        <a:schemeClr val="tx1"/>
                      </a:solidFill>
                    </a:lnL>
                    <a:lnR w="12700">
                      <a:solidFill>
                        <a:schemeClr val="tx1"/>
                      </a:solidFill>
                    </a:lnR>
                  </a:tcPr>
                </a:tc>
                <a:tc>
                  <a:txBody>
                    <a:bodyPr/>
                    <a:lstStyle/>
                    <a:p>
                      <a:pPr lvl="0">
                        <a:buNone/>
                      </a:pPr>
                      <a:r>
                        <a:rPr lang="en-US" sz="2900" dirty="0"/>
                        <a:t>60</a:t>
                      </a:r>
                    </a:p>
                  </a:txBody>
                  <a:tcPr marL="438912" marR="438912" marT="219456" marB="219456">
                    <a:lnL w="12700">
                      <a:solidFill>
                        <a:schemeClr val="tx1"/>
                      </a:solidFill>
                    </a:lnL>
                    <a:lnR w="0" cap="flat" cmpd="sng" algn="ctr">
                      <a:noFill/>
                      <a:prstDash val="solid"/>
                      <a:round/>
                      <a:headEnd type="none" w="med" len="med"/>
                      <a:tailEnd type="none" w="med" len="med"/>
                    </a:lnR>
                  </a:tcPr>
                </a:tc>
                <a:extLst>
                  <a:ext uri="{0D108BD9-81ED-4DB2-BD59-A6C34878D82A}">
                    <a16:rowId xmlns:a16="http://schemas.microsoft.com/office/drawing/2014/main" val="4018756558"/>
                  </a:ext>
                </a:extLst>
              </a:tr>
              <a:tr h="1595510">
                <a:tc>
                  <a:txBody>
                    <a:bodyPr/>
                    <a:lstStyle/>
                    <a:p>
                      <a:r>
                        <a:rPr lang="en-US" sz="2900" dirty="0"/>
                        <a:t>H&amp;M IMA COD R/L (count/min)</a:t>
                      </a:r>
                    </a:p>
                  </a:txBody>
                  <a:tcPr marL="438912" marR="438912" marT="219456" marB="219456"/>
                </a:tc>
                <a:tc>
                  <a:txBody>
                    <a:bodyPr/>
                    <a:lstStyle/>
                    <a:p>
                      <a:pPr lvl="0">
                        <a:buNone/>
                      </a:pPr>
                      <a:r>
                        <a:rPr lang="en-US" sz="2900" dirty="0"/>
                        <a:t>0.19 / 0.26 </a:t>
                      </a:r>
                    </a:p>
                  </a:txBody>
                  <a:tcPr marL="438912" marR="438912" marT="219456" marB="219456">
                    <a:lnR w="12700">
                      <a:solidFill>
                        <a:schemeClr val="tx1"/>
                      </a:solidFill>
                    </a:lnR>
                  </a:tcPr>
                </a:tc>
                <a:tc>
                  <a:txBody>
                    <a:bodyPr/>
                    <a:lstStyle/>
                    <a:p>
                      <a:pPr lvl="0">
                        <a:buNone/>
                      </a:pPr>
                      <a:r>
                        <a:rPr lang="en-US" sz="2900" dirty="0"/>
                        <a:t>0.21 / 0.29 </a:t>
                      </a:r>
                    </a:p>
                  </a:txBody>
                  <a:tcPr marL="438912" marR="438912" marT="219456" marB="219456">
                    <a:lnL w="12700">
                      <a:solidFill>
                        <a:schemeClr val="tx1"/>
                      </a:solidFill>
                    </a:lnL>
                    <a:lnR w="12700">
                      <a:solidFill>
                        <a:schemeClr val="tx1"/>
                      </a:solidFill>
                    </a:lnR>
                  </a:tcPr>
                </a:tc>
                <a:tc>
                  <a:txBody>
                    <a:bodyPr/>
                    <a:lstStyle/>
                    <a:p>
                      <a:pPr lvl="0">
                        <a:buNone/>
                      </a:pPr>
                      <a:r>
                        <a:rPr lang="en-US" sz="2900" dirty="0"/>
                        <a:t>0.23 / 0.32</a:t>
                      </a:r>
                    </a:p>
                  </a:txBody>
                  <a:tcPr marL="438912" marR="438912" marT="219456" marB="219456">
                    <a:lnL w="12700">
                      <a:solidFill>
                        <a:schemeClr val="tx1"/>
                      </a:solidFill>
                    </a:lnL>
                    <a:lnR w="0" cap="flat" cmpd="sng" algn="ctr">
                      <a:noFill/>
                      <a:prstDash val="solid"/>
                      <a:round/>
                      <a:headEnd type="none" w="med" len="med"/>
                      <a:tailEnd type="none" w="med" len="med"/>
                    </a:lnR>
                  </a:tcPr>
                </a:tc>
                <a:extLst>
                  <a:ext uri="{0D108BD9-81ED-4DB2-BD59-A6C34878D82A}">
                    <a16:rowId xmlns:a16="http://schemas.microsoft.com/office/drawing/2014/main" val="1756382840"/>
                  </a:ext>
                </a:extLst>
              </a:tr>
              <a:tr h="1387660">
                <a:tc>
                  <a:txBody>
                    <a:bodyPr/>
                    <a:lstStyle/>
                    <a:p>
                      <a:pPr lvl="0">
                        <a:buNone/>
                      </a:pPr>
                      <a:r>
                        <a:rPr lang="en-US" sz="2900" dirty="0"/>
                        <a:t>H&amp;M IMA Accel (count/min)</a:t>
                      </a:r>
                    </a:p>
                  </a:txBody>
                  <a:tcPr marL="438912" marR="438912" marT="219456" marB="219456"/>
                </a:tc>
                <a:tc>
                  <a:txBody>
                    <a:bodyPr/>
                    <a:lstStyle/>
                    <a:p>
                      <a:pPr lvl="0">
                        <a:buNone/>
                      </a:pPr>
                      <a:r>
                        <a:rPr lang="en-US" sz="2900" dirty="0"/>
                        <a:t>0.33</a:t>
                      </a:r>
                      <a:endParaRPr lang="en-US" sz="2900" baseline="0" dirty="0"/>
                    </a:p>
                  </a:txBody>
                  <a:tcPr marL="438912" marR="438912" marT="219456" marB="219456">
                    <a:lnR w="12700">
                      <a:solidFill>
                        <a:schemeClr val="tx1"/>
                      </a:solidFill>
                    </a:lnR>
                  </a:tcPr>
                </a:tc>
                <a:tc>
                  <a:txBody>
                    <a:bodyPr/>
                    <a:lstStyle/>
                    <a:p>
                      <a:pPr lvl="0">
                        <a:buNone/>
                      </a:pPr>
                      <a:r>
                        <a:rPr lang="en-US" sz="2900" dirty="0"/>
                        <a:t>0.26</a:t>
                      </a:r>
                    </a:p>
                  </a:txBody>
                  <a:tcPr marL="438912" marR="438912" marT="219456" marB="219456">
                    <a:lnL w="12700">
                      <a:solidFill>
                        <a:schemeClr val="tx1"/>
                      </a:solidFill>
                    </a:lnL>
                    <a:lnR w="12700">
                      <a:solidFill>
                        <a:schemeClr val="tx1"/>
                      </a:solidFill>
                    </a:lnR>
                  </a:tcPr>
                </a:tc>
                <a:tc>
                  <a:txBody>
                    <a:bodyPr/>
                    <a:lstStyle/>
                    <a:p>
                      <a:pPr lvl="0">
                        <a:buNone/>
                      </a:pPr>
                      <a:r>
                        <a:rPr lang="en-US" sz="2900" dirty="0"/>
                        <a:t>0.26</a:t>
                      </a:r>
                    </a:p>
                  </a:txBody>
                  <a:tcPr marL="438912" marR="438912" marT="219456" marB="219456">
                    <a:lnL w="12700">
                      <a:solidFill>
                        <a:schemeClr val="tx1"/>
                      </a:solidFill>
                    </a:lnL>
                    <a:lnR w="0" cap="flat" cmpd="sng" algn="ctr">
                      <a:noFill/>
                      <a:prstDash val="solid"/>
                      <a:round/>
                      <a:headEnd type="none" w="med" len="med"/>
                      <a:tailEnd type="none" w="med" len="med"/>
                    </a:lnR>
                  </a:tcPr>
                </a:tc>
                <a:extLst>
                  <a:ext uri="{0D108BD9-81ED-4DB2-BD59-A6C34878D82A}">
                    <a16:rowId xmlns:a16="http://schemas.microsoft.com/office/drawing/2014/main" val="3947978129"/>
                  </a:ext>
                </a:extLst>
              </a:tr>
              <a:tr h="1298556">
                <a:tc>
                  <a:txBody>
                    <a:bodyPr/>
                    <a:lstStyle/>
                    <a:p>
                      <a:pPr lvl="0">
                        <a:buNone/>
                      </a:pPr>
                      <a:r>
                        <a:rPr lang="en-US" sz="2900" dirty="0"/>
                        <a:t>H&amp;M IMA </a:t>
                      </a:r>
                      <a:r>
                        <a:rPr lang="en-US" sz="2900" dirty="0" err="1"/>
                        <a:t>Decel</a:t>
                      </a:r>
                      <a:endParaRPr lang="en-US" sz="2900" dirty="0"/>
                    </a:p>
                    <a:p>
                      <a:pPr lvl="0">
                        <a:buNone/>
                      </a:pPr>
                      <a:r>
                        <a:rPr lang="en-US" sz="2900" dirty="0"/>
                        <a:t>(count/min)</a:t>
                      </a:r>
                    </a:p>
                  </a:txBody>
                  <a:tcPr marL="438912" marR="438912" marT="219456" marB="219456"/>
                </a:tc>
                <a:tc>
                  <a:txBody>
                    <a:bodyPr/>
                    <a:lstStyle/>
                    <a:p>
                      <a:pPr lvl="0">
                        <a:buNone/>
                      </a:pPr>
                      <a:r>
                        <a:rPr lang="en-US" sz="2900" dirty="0"/>
                        <a:t>0.42</a:t>
                      </a:r>
                    </a:p>
                  </a:txBody>
                  <a:tcPr marL="438912" marR="438912" marT="219456" marB="219456">
                    <a:lnR w="12700">
                      <a:solidFill>
                        <a:schemeClr val="tx1"/>
                      </a:solidFill>
                    </a:lnR>
                  </a:tcPr>
                </a:tc>
                <a:tc>
                  <a:txBody>
                    <a:bodyPr/>
                    <a:lstStyle/>
                    <a:p>
                      <a:pPr lvl="0">
                        <a:buNone/>
                      </a:pPr>
                      <a:r>
                        <a:rPr lang="en-US" sz="2900" dirty="0"/>
                        <a:t>0.44</a:t>
                      </a:r>
                    </a:p>
                  </a:txBody>
                  <a:tcPr marL="438912" marR="438912" marT="219456" marB="219456">
                    <a:lnL w="12700">
                      <a:solidFill>
                        <a:schemeClr val="tx1"/>
                      </a:solidFill>
                    </a:lnL>
                    <a:lnR w="12700">
                      <a:solidFill>
                        <a:schemeClr val="tx1"/>
                      </a:solidFill>
                    </a:lnR>
                  </a:tcPr>
                </a:tc>
                <a:tc>
                  <a:txBody>
                    <a:bodyPr/>
                    <a:lstStyle/>
                    <a:p>
                      <a:pPr lvl="0">
                        <a:buNone/>
                      </a:pPr>
                      <a:r>
                        <a:rPr lang="en-US" sz="2900" dirty="0"/>
                        <a:t>0.34</a:t>
                      </a:r>
                    </a:p>
                  </a:txBody>
                  <a:tcPr marL="438912" marR="438912" marT="219456" marB="219456">
                    <a:lnL w="12700">
                      <a:solidFill>
                        <a:schemeClr val="tx1"/>
                      </a:solidFill>
                    </a:lnL>
                    <a:lnR w="0" cap="flat" cmpd="sng" algn="ctr">
                      <a:noFill/>
                      <a:prstDash val="solid"/>
                      <a:round/>
                      <a:headEnd type="none" w="med" len="med"/>
                      <a:tailEnd type="none" w="med" len="med"/>
                    </a:lnR>
                  </a:tcPr>
                </a:tc>
                <a:extLst>
                  <a:ext uri="{0D108BD9-81ED-4DB2-BD59-A6C34878D82A}">
                    <a16:rowId xmlns:a16="http://schemas.microsoft.com/office/drawing/2014/main" val="1158429460"/>
                  </a:ext>
                </a:extLst>
              </a:tr>
            </a:tbl>
          </a:graphicData>
        </a:graphic>
      </p:graphicFrame>
      <p:sp>
        <p:nvSpPr>
          <p:cNvPr id="7" name="Rectangle 6">
            <a:extLst>
              <a:ext uri="{FF2B5EF4-FFF2-40B4-BE49-F238E27FC236}">
                <a16:creationId xmlns:a16="http://schemas.microsoft.com/office/drawing/2014/main" id="{84415A9A-37C8-25CE-A57B-6EF6816E1145}"/>
              </a:ext>
            </a:extLst>
          </p:cNvPr>
          <p:cNvSpPr/>
          <p:nvPr/>
        </p:nvSpPr>
        <p:spPr>
          <a:xfrm>
            <a:off x="0" y="0"/>
            <a:ext cx="43891200" cy="609016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a:lstStyle>
          <a:p>
            <a:pPr algn="ctr"/>
            <a:r>
              <a:rPr lang="en-US" sz="7680"/>
              <a:t>Characterizing Positional Performance Demands for Utah Women's Soccer  </a:t>
            </a:r>
            <a:br>
              <a:rPr lang="en-US" sz="7680"/>
            </a:br>
            <a:r>
              <a:rPr lang="en-US" sz="5760"/>
              <a:t>Greta Czachor, Cooper Kerr, Sophia Terrill</a:t>
            </a:r>
            <a:r>
              <a:rPr lang="en-US" sz="5760">
                <a:solidFill>
                  <a:srgbClr val="000000"/>
                </a:solidFill>
                <a:latin typeface="Times"/>
                <a:cs typeface="Times"/>
              </a:rPr>
              <a:t> </a:t>
            </a:r>
            <a:endParaRPr lang="en-US" sz="5760"/>
          </a:p>
        </p:txBody>
      </p:sp>
      <p:cxnSp>
        <p:nvCxnSpPr>
          <p:cNvPr id="11" name="Straight Arrow Connector 10">
            <a:extLst>
              <a:ext uri="{FF2B5EF4-FFF2-40B4-BE49-F238E27FC236}">
                <a16:creationId xmlns:a16="http://schemas.microsoft.com/office/drawing/2014/main" id="{C5463D4E-5648-0A0F-FCF8-A204D9EDEF71}"/>
              </a:ext>
            </a:extLst>
          </p:cNvPr>
          <p:cNvCxnSpPr/>
          <p:nvPr/>
        </p:nvCxnSpPr>
        <p:spPr>
          <a:xfrm flipH="1">
            <a:off x="10787586" y="6095269"/>
            <a:ext cx="26246" cy="26565720"/>
          </a:xfrm>
          <a:prstGeom prst="straightConnector1">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3D197B6A-E0A6-6FE2-DDF8-035F9C0ED8D6}"/>
              </a:ext>
            </a:extLst>
          </p:cNvPr>
          <p:cNvCxnSpPr>
            <a:cxnSpLocks/>
          </p:cNvCxnSpPr>
          <p:nvPr/>
        </p:nvCxnSpPr>
        <p:spPr>
          <a:xfrm>
            <a:off x="33145450" y="6144298"/>
            <a:ext cx="37195" cy="26505197"/>
          </a:xfrm>
          <a:prstGeom prst="straightConnector1">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E0060738-7659-CD4C-1D4F-A512061A4AC4}"/>
              </a:ext>
            </a:extLst>
          </p:cNvPr>
          <p:cNvSpPr/>
          <p:nvPr/>
        </p:nvSpPr>
        <p:spPr>
          <a:xfrm>
            <a:off x="11235308" y="6151045"/>
            <a:ext cx="21420571" cy="889382"/>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lIns="438912" tIns="219456" rIns="438912" bIns="219456" rtlCol="0" anchor="ctr"/>
          <a:lst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a:lstStyle>
          <a:p>
            <a:pPr algn="ctr"/>
            <a:r>
              <a:rPr lang="en-US" sz="5280" b="1"/>
              <a:t>Results</a:t>
            </a:r>
          </a:p>
        </p:txBody>
      </p:sp>
      <p:sp>
        <p:nvSpPr>
          <p:cNvPr id="15" name="Rectangle 14">
            <a:extLst>
              <a:ext uri="{FF2B5EF4-FFF2-40B4-BE49-F238E27FC236}">
                <a16:creationId xmlns:a16="http://schemas.microsoft.com/office/drawing/2014/main" id="{F338CB7D-0E09-AB6D-310D-EF1F398DE11E}"/>
              </a:ext>
            </a:extLst>
          </p:cNvPr>
          <p:cNvSpPr/>
          <p:nvPr/>
        </p:nvSpPr>
        <p:spPr>
          <a:xfrm>
            <a:off x="-1" y="6172147"/>
            <a:ext cx="10342781" cy="86628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lIns="438912" tIns="219456" rIns="438912" bIns="219456" rtlCol="0" anchor="ctr"/>
          <a:lst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a:lstStyle>
          <a:p>
            <a:pPr algn="ctr"/>
            <a:r>
              <a:rPr lang="en-US" sz="5280" b="1"/>
              <a:t>Introduction</a:t>
            </a:r>
          </a:p>
        </p:txBody>
      </p:sp>
      <p:sp>
        <p:nvSpPr>
          <p:cNvPr id="16" name="Rectangle 15">
            <a:extLst>
              <a:ext uri="{FF2B5EF4-FFF2-40B4-BE49-F238E27FC236}">
                <a16:creationId xmlns:a16="http://schemas.microsoft.com/office/drawing/2014/main" id="{61291857-D914-ED5A-FD41-C4E55A5418FF}"/>
              </a:ext>
            </a:extLst>
          </p:cNvPr>
          <p:cNvSpPr/>
          <p:nvPr/>
        </p:nvSpPr>
        <p:spPr>
          <a:xfrm>
            <a:off x="33534718" y="17259519"/>
            <a:ext cx="10358318" cy="892526"/>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lIns="438912" tIns="219456" rIns="438912" bIns="219456" rtlCol="0" anchor="ctr"/>
          <a:lst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a:lstStyle>
          <a:p>
            <a:pPr algn="ctr"/>
            <a:r>
              <a:rPr lang="en-US" sz="5280" b="1"/>
              <a:t>Limitations</a:t>
            </a:r>
          </a:p>
        </p:txBody>
      </p:sp>
      <p:sp>
        <p:nvSpPr>
          <p:cNvPr id="17" name="Rectangle 16">
            <a:extLst>
              <a:ext uri="{FF2B5EF4-FFF2-40B4-BE49-F238E27FC236}">
                <a16:creationId xmlns:a16="http://schemas.microsoft.com/office/drawing/2014/main" id="{C681159F-7ED1-337F-7FCC-E6760DB674F6}"/>
              </a:ext>
            </a:extLst>
          </p:cNvPr>
          <p:cNvSpPr/>
          <p:nvPr/>
        </p:nvSpPr>
        <p:spPr>
          <a:xfrm>
            <a:off x="33537825" y="24523505"/>
            <a:ext cx="10358318" cy="892526"/>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lIns="438912" tIns="219456" rIns="438912" bIns="219456" rtlCol="0" anchor="ctr"/>
          <a:lst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a:lstStyle>
          <a:p>
            <a:pPr algn="ctr"/>
            <a:r>
              <a:rPr lang="en-US" sz="5280" b="1"/>
              <a:t>Next Steps</a:t>
            </a:r>
          </a:p>
        </p:txBody>
      </p:sp>
      <p:sp>
        <p:nvSpPr>
          <p:cNvPr id="18" name="Rectangle 17">
            <a:extLst>
              <a:ext uri="{FF2B5EF4-FFF2-40B4-BE49-F238E27FC236}">
                <a16:creationId xmlns:a16="http://schemas.microsoft.com/office/drawing/2014/main" id="{51F1BB21-B4F7-798B-3403-1D8B76EA061D}"/>
              </a:ext>
            </a:extLst>
          </p:cNvPr>
          <p:cNvSpPr/>
          <p:nvPr/>
        </p:nvSpPr>
        <p:spPr>
          <a:xfrm>
            <a:off x="-44747" y="25984977"/>
            <a:ext cx="10358318" cy="892526"/>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lIns="438912" tIns="219456" rIns="438912" bIns="219456" rtlCol="0" anchor="ctr"/>
          <a:lst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a:lstStyle>
          <a:p>
            <a:pPr algn="ctr"/>
            <a:r>
              <a:rPr lang="en-US" sz="5280" b="1"/>
              <a:t>Methods</a:t>
            </a:r>
          </a:p>
        </p:txBody>
      </p:sp>
      <p:sp>
        <p:nvSpPr>
          <p:cNvPr id="19" name="Rectangle 18">
            <a:extLst>
              <a:ext uri="{FF2B5EF4-FFF2-40B4-BE49-F238E27FC236}">
                <a16:creationId xmlns:a16="http://schemas.microsoft.com/office/drawing/2014/main" id="{DB402CB4-2801-0EAC-1662-D4C7480343ED}"/>
              </a:ext>
            </a:extLst>
          </p:cNvPr>
          <p:cNvSpPr/>
          <p:nvPr/>
        </p:nvSpPr>
        <p:spPr>
          <a:xfrm>
            <a:off x="33553537" y="6152827"/>
            <a:ext cx="10345574" cy="877824"/>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lIns="438912" tIns="219456" rIns="438912" bIns="219456" rtlCol="0" anchor="ctr"/>
          <a:lst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a:lstStyle>
          <a:p>
            <a:pPr algn="ctr"/>
            <a:r>
              <a:rPr lang="en-US" sz="5280" b="1"/>
              <a:t>Conclusions</a:t>
            </a:r>
          </a:p>
        </p:txBody>
      </p:sp>
      <p:sp>
        <p:nvSpPr>
          <p:cNvPr id="21" name="TextBox 20">
            <a:extLst>
              <a:ext uri="{FF2B5EF4-FFF2-40B4-BE49-F238E27FC236}">
                <a16:creationId xmlns:a16="http://schemas.microsoft.com/office/drawing/2014/main" id="{B7062008-7FC1-787B-0C24-66492B3F6A08}"/>
              </a:ext>
            </a:extLst>
          </p:cNvPr>
          <p:cNvSpPr txBox="1"/>
          <p:nvPr/>
        </p:nvSpPr>
        <p:spPr>
          <a:xfrm>
            <a:off x="10961849" y="7108366"/>
            <a:ext cx="12877468" cy="889474"/>
          </a:xfrm>
          <a:prstGeom prst="rect">
            <a:avLst/>
          </a:prstGeom>
          <a:noFill/>
        </p:spPr>
        <p:txBody>
          <a:bodyPr rot="0" spcFirstLastPara="0" vertOverflow="overflow" horzOverflow="overflow" vert="horz" wrap="square" lIns="438912" tIns="219456" rIns="438912" bIns="219456" numCol="1" spcCol="0" rtlCol="0" fromWordArt="0" anchor="t" anchorCtr="0" forceAA="0" compatLnSpc="1">
            <a:prstTxWarp prst="textNoShape">
              <a:avLst/>
            </a:prstTxWarp>
            <a:spAutoFit/>
          </a:bodyPr>
          <a:lst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a:lstStyle>
          <a:p>
            <a:r>
              <a:rPr lang="en-US" sz="2900" b="1"/>
              <a:t>Table 1.1 Average Performance Metric Values by Position in Matches </a:t>
            </a:r>
          </a:p>
        </p:txBody>
      </p:sp>
      <p:sp>
        <p:nvSpPr>
          <p:cNvPr id="29" name="TextBox 28">
            <a:extLst>
              <a:ext uri="{FF2B5EF4-FFF2-40B4-BE49-F238E27FC236}">
                <a16:creationId xmlns:a16="http://schemas.microsoft.com/office/drawing/2014/main" id="{9826319A-9933-CDF3-5B45-507F72EE5122}"/>
              </a:ext>
            </a:extLst>
          </p:cNvPr>
          <p:cNvSpPr txBox="1"/>
          <p:nvPr/>
        </p:nvSpPr>
        <p:spPr>
          <a:xfrm>
            <a:off x="-44801" y="27006328"/>
            <a:ext cx="10674096" cy="7337393"/>
          </a:xfrm>
          <a:prstGeom prst="rect">
            <a:avLst/>
          </a:prstGeom>
          <a:noFill/>
        </p:spPr>
        <p:txBody>
          <a:bodyPr rot="0" spcFirstLastPara="0" vertOverflow="overflow" horzOverflow="overflow" vert="horz" wrap="square" lIns="438912" tIns="219456" rIns="438912" bIns="219456" numCol="1" spcCol="0" rtlCol="0" fromWordArt="0" anchor="t" anchorCtr="0" forceAA="0" compatLnSpc="1">
            <a:prstTxWarp prst="textNoShape">
              <a:avLst/>
            </a:prstTxWarp>
            <a:spAutoFit/>
          </a:bodyPr>
          <a:lst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a:lstStyle>
          <a:p>
            <a:pPr marL="987425" indent="-822960" algn="just">
              <a:buFont typeface="Arial"/>
              <a:buChar char="•"/>
            </a:pPr>
            <a:r>
              <a:rPr lang="en-US" sz="2800" dirty="0"/>
              <a:t>Data collection with Catapult units  during all field training and matches from Fall 2022 - Present</a:t>
            </a:r>
            <a:endParaRPr lang="en-US" dirty="0"/>
          </a:p>
          <a:p>
            <a:pPr marL="987425" indent="-822960" algn="just">
              <a:buFont typeface="Arial"/>
              <a:buChar char="•"/>
            </a:pPr>
            <a:r>
              <a:rPr lang="en-US" sz="2800" dirty="0"/>
              <a:t>Generation of summary statistics for each position and play type to understand averages and distribution of data</a:t>
            </a:r>
          </a:p>
          <a:p>
            <a:pPr marL="987425" indent="-822960" algn="just">
              <a:buFont typeface="Arial"/>
              <a:buChar char="•"/>
            </a:pPr>
            <a:r>
              <a:rPr lang="en-US" sz="2800" dirty="0"/>
              <a:t>Use of independent t-tests and significance tests for Total Duration, Player Load, PL/min, Total Distance, and Total High-Speed Distance </a:t>
            </a:r>
          </a:p>
          <a:p>
            <a:pPr marL="987425" indent="-822960" algn="just">
              <a:buFont typeface="Arial"/>
              <a:buChar char="•"/>
            </a:pPr>
            <a:r>
              <a:rPr lang="en-US" sz="2800" dirty="0"/>
              <a:t>Use of Mann Whitney U test and significance tests for IMA metrics due to the non-normal distribution and uneven sample sizes </a:t>
            </a:r>
          </a:p>
          <a:p>
            <a:pPr marL="987425" indent="-822960" algn="just">
              <a:buFont typeface="Arial"/>
              <a:buChar char="•"/>
            </a:pPr>
            <a:r>
              <a:rPr lang="en-US" sz="2800" dirty="0"/>
              <a:t>Statistical significance determined when </a:t>
            </a:r>
            <a:r>
              <a:rPr lang="en-US" sz="2800"/>
              <a:t>p-values were   ≤ </a:t>
            </a:r>
            <a:r>
              <a:rPr lang="en-US" sz="2800" dirty="0"/>
              <a:t>0.05</a:t>
            </a:r>
            <a:endParaRPr lang="en-US" sz="8600" dirty="0"/>
          </a:p>
          <a:p>
            <a:pPr marL="987425" indent="-822960" algn="just">
              <a:buFont typeface="Arial"/>
              <a:buChar char="•"/>
            </a:pPr>
            <a:endParaRPr lang="en-US" sz="2800"/>
          </a:p>
          <a:p>
            <a:pPr marL="987425" indent="-822960" algn="just">
              <a:buFont typeface="Arial"/>
              <a:buChar char="•"/>
            </a:pPr>
            <a:endParaRPr lang="en-US" sz="2800"/>
          </a:p>
          <a:p>
            <a:pPr marL="987425" indent="-822960" algn="just">
              <a:buFont typeface="Arial"/>
              <a:buChar char="•"/>
            </a:pPr>
            <a:endParaRPr lang="en-US" sz="2800"/>
          </a:p>
          <a:p>
            <a:pPr marL="987425" indent="-822960" algn="just">
              <a:buFont typeface="Arial"/>
              <a:buChar char="•"/>
            </a:pPr>
            <a:endParaRPr lang="en-US" sz="2800"/>
          </a:p>
        </p:txBody>
      </p:sp>
      <p:sp>
        <p:nvSpPr>
          <p:cNvPr id="30" name="TextBox 29">
            <a:extLst>
              <a:ext uri="{FF2B5EF4-FFF2-40B4-BE49-F238E27FC236}">
                <a16:creationId xmlns:a16="http://schemas.microsoft.com/office/drawing/2014/main" id="{D4B16D8A-264E-367C-4D4F-1B22406280DB}"/>
              </a:ext>
            </a:extLst>
          </p:cNvPr>
          <p:cNvSpPr txBox="1"/>
          <p:nvPr/>
        </p:nvSpPr>
        <p:spPr>
          <a:xfrm>
            <a:off x="33125626" y="18302043"/>
            <a:ext cx="10498843" cy="6044732"/>
          </a:xfrm>
          <a:prstGeom prst="rect">
            <a:avLst/>
          </a:prstGeom>
          <a:noFill/>
        </p:spPr>
        <p:txBody>
          <a:bodyPr rot="0" spcFirstLastPara="0" vertOverflow="overflow" horzOverflow="overflow" vert="horz" wrap="square" lIns="438912" tIns="219456" rIns="438912" bIns="219456" numCol="1" spcCol="0" rtlCol="0" fromWordArt="0" anchor="t" anchorCtr="0" forceAA="0" compatLnSpc="1">
            <a:prstTxWarp prst="textNoShape">
              <a:avLst/>
            </a:prstTxWarp>
            <a:spAutoFit/>
          </a:bodyPr>
          <a:lst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a:lstStyle>
          <a:p>
            <a:pPr marL="822960" indent="-657860" algn="just">
              <a:buFont typeface="Arial"/>
              <a:buChar char="•"/>
            </a:pPr>
            <a:r>
              <a:rPr lang="en-US" sz="2800" dirty="0"/>
              <a:t>Small sample size required grouping of specialized positions to broader positions for main analysis. Defender's averages specifically were watered down to an average that doesn't represent either specific position</a:t>
            </a:r>
            <a:endParaRPr lang="en-US" dirty="0"/>
          </a:p>
          <a:p>
            <a:pPr marL="822960" indent="-657860" algn="just">
              <a:buFont typeface="Arial"/>
              <a:buChar char="•"/>
            </a:pPr>
            <a:r>
              <a:rPr lang="en-US" sz="2800" dirty="0"/>
              <a:t>Small sample size reduced statistical power and </a:t>
            </a:r>
            <a:r>
              <a:rPr lang="en-US" sz="2800"/>
              <a:t>generalizability </a:t>
            </a:r>
            <a:endParaRPr lang="en-US" dirty="0"/>
          </a:p>
          <a:p>
            <a:pPr marL="822960" indent="-657860" algn="just">
              <a:buFont typeface="Arial"/>
              <a:buChar char="•"/>
            </a:pPr>
            <a:r>
              <a:rPr lang="en-US" sz="2800" dirty="0"/>
              <a:t>Reduced amount of goalkeeper data (one less season of match data for goalkeepers because units weren't worn, 12 instances of partially missing data in goalkeeper data used)</a:t>
            </a:r>
            <a:endParaRPr lang="en-US" sz="8600" dirty="0"/>
          </a:p>
          <a:p>
            <a:pPr marL="822960" indent="-657860" algn="just">
              <a:buFont typeface="Arial"/>
              <a:buChar char="•"/>
            </a:pPr>
            <a:r>
              <a:rPr lang="en-US" sz="2800" dirty="0"/>
              <a:t>9 in-game field player instances of invalid data due to Catapult malfunctions </a:t>
            </a:r>
            <a:endParaRPr lang="en-US" sz="8600" dirty="0"/>
          </a:p>
          <a:p>
            <a:pPr marL="822960" indent="-657860" algn="just">
              <a:buFont typeface="Arial"/>
              <a:buChar char="•"/>
            </a:pPr>
            <a:endParaRPr lang="en-US" sz="2800"/>
          </a:p>
        </p:txBody>
      </p:sp>
      <p:sp>
        <p:nvSpPr>
          <p:cNvPr id="31" name="TextBox 30">
            <a:extLst>
              <a:ext uri="{FF2B5EF4-FFF2-40B4-BE49-F238E27FC236}">
                <a16:creationId xmlns:a16="http://schemas.microsoft.com/office/drawing/2014/main" id="{57D9CF5E-282D-F384-06E6-D27B038EB308}"/>
              </a:ext>
            </a:extLst>
          </p:cNvPr>
          <p:cNvSpPr txBox="1"/>
          <p:nvPr/>
        </p:nvSpPr>
        <p:spPr>
          <a:xfrm>
            <a:off x="33079813" y="6578249"/>
            <a:ext cx="10563782" cy="10689076"/>
          </a:xfrm>
          <a:prstGeom prst="rect">
            <a:avLst/>
          </a:prstGeom>
          <a:noFill/>
        </p:spPr>
        <p:txBody>
          <a:bodyPr rot="0" spcFirstLastPara="0" vertOverflow="overflow" horzOverflow="overflow" vert="horz" wrap="square" lIns="438912" tIns="219456" rIns="438912" bIns="219456" numCol="1" spcCol="0" rtlCol="0" fromWordArt="0" anchor="t" anchorCtr="0" forceAA="0" compatLnSpc="1">
            <a:prstTxWarp prst="textNoShape">
              <a:avLst/>
            </a:prstTxWarp>
            <a:spAutoFit/>
          </a:bodyPr>
          <a:lst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a:lstStyle>
          <a:p>
            <a:pPr marL="165100" algn="just"/>
            <a:endParaRPr lang="en-US" sz="2800"/>
          </a:p>
          <a:p>
            <a:pPr marL="822960" indent="-657860" algn="just">
              <a:buFont typeface="Arial,Sans-Serif"/>
              <a:buChar char="•"/>
            </a:pPr>
            <a:r>
              <a:rPr lang="en-US" sz="2800" dirty="0"/>
              <a:t>There is a statistically significant difference (p≤0.05) between some positions for all key metrics (Total Player Load, PL/min, Total Duration, Total Distance, Total High-Speed Distance, H&amp;M IMA COD/Accel/</a:t>
            </a:r>
            <a:r>
              <a:rPr lang="en-US" sz="2800" dirty="0" err="1"/>
              <a:t>Decel</a:t>
            </a:r>
            <a:r>
              <a:rPr lang="en-US" sz="2800" dirty="0"/>
              <a:t>) indicating that the demands of individual positions vary</a:t>
            </a:r>
          </a:p>
          <a:p>
            <a:pPr marL="822960" indent="-657860" algn="just">
              <a:buFont typeface="Arial,Sans-Serif"/>
              <a:buChar char="•"/>
            </a:pPr>
            <a:r>
              <a:rPr lang="en-US" sz="2800" dirty="0"/>
              <a:t>Players should receive position specific preparations  to address the statistically significant differences in position demands </a:t>
            </a:r>
          </a:p>
          <a:p>
            <a:pPr marL="822960" indent="-657860" algn="just">
              <a:buFont typeface="Arial"/>
              <a:buChar char="•"/>
            </a:pPr>
            <a:r>
              <a:rPr lang="en-US" sz="2800" dirty="0"/>
              <a:t>There is statistically significant differences in the relationship between individual position's key metric averages compared to team averages in matches vs training data indicating a misalignment in match and training exposures</a:t>
            </a:r>
          </a:p>
          <a:p>
            <a:pPr marL="822960" indent="-657860" algn="just">
              <a:buFont typeface="Arial"/>
              <a:buChar char="•"/>
            </a:pPr>
            <a:r>
              <a:rPr lang="en-US" sz="2800" dirty="0"/>
              <a:t>Within defenders, center backs and outside backs have different trends indicating a potential need to treat these positions as distinct</a:t>
            </a:r>
          </a:p>
          <a:p>
            <a:pPr marL="822960" indent="-657860" algn="just">
              <a:buFont typeface="Arial"/>
              <a:buChar char="•"/>
            </a:pPr>
            <a:r>
              <a:rPr lang="en-US" sz="2800" dirty="0"/>
              <a:t>There is a statistically significant difference between first half average PL/min and second half average PL/min, indicating players on average have a significantly lower density during the second half, likely due to fatigue</a:t>
            </a:r>
          </a:p>
          <a:p>
            <a:endParaRPr lang="en-US" sz="2800"/>
          </a:p>
          <a:p>
            <a:pPr marL="3017520" lvl="1" indent="-657860" algn="just">
              <a:buFont typeface="Courier New"/>
              <a:buChar char="o"/>
            </a:pPr>
            <a:endParaRPr lang="en-US" sz="2800"/>
          </a:p>
        </p:txBody>
      </p:sp>
      <p:graphicFrame>
        <p:nvGraphicFramePr>
          <p:cNvPr id="22" name="Table 21">
            <a:extLst>
              <a:ext uri="{FF2B5EF4-FFF2-40B4-BE49-F238E27FC236}">
                <a16:creationId xmlns:a16="http://schemas.microsoft.com/office/drawing/2014/main" id="{804581A7-35A0-5AEC-B11C-8D7875A1B910}"/>
              </a:ext>
            </a:extLst>
          </p:cNvPr>
          <p:cNvGraphicFramePr>
            <a:graphicFrameLocks noGrp="1"/>
          </p:cNvGraphicFramePr>
          <p:nvPr>
            <p:extLst>
              <p:ext uri="{D42A27DB-BD31-4B8C-83A1-F6EECF244321}">
                <p14:modId xmlns:p14="http://schemas.microsoft.com/office/powerpoint/2010/main" val="4262741605"/>
              </p:ext>
            </p:extLst>
          </p:nvPr>
        </p:nvGraphicFramePr>
        <p:xfrm>
          <a:off x="24024288" y="7859037"/>
          <a:ext cx="7833626" cy="7099001"/>
        </p:xfrm>
        <a:graphic>
          <a:graphicData uri="http://schemas.openxmlformats.org/drawingml/2006/table">
            <a:tbl>
              <a:tblPr firstRow="1" bandRow="1">
                <a:tableStyleId>{073A0DAA-6AF3-43AB-8588-CEC1D06C72B9}</a:tableStyleId>
              </a:tblPr>
              <a:tblGrid>
                <a:gridCol w="5923754">
                  <a:extLst>
                    <a:ext uri="{9D8B030D-6E8A-4147-A177-3AD203B41FA5}">
                      <a16:colId xmlns:a16="http://schemas.microsoft.com/office/drawing/2014/main" val="2639375112"/>
                    </a:ext>
                  </a:extLst>
                </a:gridCol>
                <a:gridCol w="1909872">
                  <a:extLst>
                    <a:ext uri="{9D8B030D-6E8A-4147-A177-3AD203B41FA5}">
                      <a16:colId xmlns:a16="http://schemas.microsoft.com/office/drawing/2014/main" val="2969522300"/>
                    </a:ext>
                  </a:extLst>
                </a:gridCol>
              </a:tblGrid>
              <a:tr h="653028">
                <a:tc gridSpan="2">
                  <a:txBody>
                    <a:bodyPr/>
                    <a:lstStyle/>
                    <a:p>
                      <a:pPr lvl="0" algn="ctr">
                        <a:buNone/>
                      </a:pPr>
                      <a:r>
                        <a:rPr lang="en-US" sz="2900" dirty="0"/>
                        <a:t>Goalkeepers</a:t>
                      </a:r>
                      <a:endParaRPr lang="en-US" sz="8600" dirty="0"/>
                    </a:p>
                  </a:txBody>
                  <a:tcPr marL="438912" marR="438912" marT="219456" marB="219456"/>
                </a:tc>
                <a:tc hMerge="1">
                  <a:txBody>
                    <a:bodyPr/>
                    <a:lstStyle/>
                    <a:p>
                      <a:endParaRPr lang="en-US"/>
                    </a:p>
                  </a:txBody>
                  <a:tcPr marL="0" marR="0" marT="0" marB="0" horzOverflow="overflow"/>
                </a:tc>
                <a:extLst>
                  <a:ext uri="{0D108BD9-81ED-4DB2-BD59-A6C34878D82A}">
                    <a16:rowId xmlns:a16="http://schemas.microsoft.com/office/drawing/2014/main" val="122894309"/>
                  </a:ext>
                </a:extLst>
              </a:tr>
              <a:tr h="932897">
                <a:tc>
                  <a:txBody>
                    <a:bodyPr/>
                    <a:lstStyle/>
                    <a:p>
                      <a:pPr lvl="0">
                        <a:buNone/>
                      </a:pPr>
                      <a:r>
                        <a:rPr lang="en-US" sz="2900" dirty="0"/>
                        <a:t>Duration (min)</a:t>
                      </a:r>
                      <a:endParaRPr lang="en-US" sz="8600" dirty="0"/>
                    </a:p>
                  </a:txBody>
                  <a:tcPr marL="438912" marR="438912" marT="219456" marB="219456"/>
                </a:tc>
                <a:tc>
                  <a:txBody>
                    <a:bodyPr/>
                    <a:lstStyle/>
                    <a:p>
                      <a:pPr lvl="0">
                        <a:buNone/>
                      </a:pPr>
                      <a:r>
                        <a:rPr lang="en-US" sz="2900" dirty="0"/>
                        <a:t>85.03</a:t>
                      </a:r>
                      <a:endParaRPr lang="en-US" sz="8600" dirty="0"/>
                    </a:p>
                  </a:txBody>
                  <a:tcPr marL="438912" marR="438912" marT="219456" marB="219456"/>
                </a:tc>
                <a:extLst>
                  <a:ext uri="{0D108BD9-81ED-4DB2-BD59-A6C34878D82A}">
                    <a16:rowId xmlns:a16="http://schemas.microsoft.com/office/drawing/2014/main" val="2830874745"/>
                  </a:ext>
                </a:extLst>
              </a:tr>
              <a:tr h="653028">
                <a:tc>
                  <a:txBody>
                    <a:bodyPr/>
                    <a:lstStyle/>
                    <a:p>
                      <a:pPr lvl="0">
                        <a:buNone/>
                      </a:pPr>
                      <a:r>
                        <a:rPr lang="en-US" sz="2900" dirty="0"/>
                        <a:t>Player Load (unitless)</a:t>
                      </a:r>
                      <a:endParaRPr lang="en-US" sz="8600" dirty="0"/>
                    </a:p>
                  </a:txBody>
                  <a:tcPr marL="438912" marR="438912" marT="219456" marB="219456"/>
                </a:tc>
                <a:tc>
                  <a:txBody>
                    <a:bodyPr/>
                    <a:lstStyle/>
                    <a:p>
                      <a:pPr lvl="0">
                        <a:buNone/>
                      </a:pPr>
                      <a:r>
                        <a:rPr lang="en-US" sz="2900" dirty="0"/>
                        <a:t>354</a:t>
                      </a:r>
                      <a:endParaRPr lang="en-US" sz="8600" dirty="0"/>
                    </a:p>
                  </a:txBody>
                  <a:tcPr marL="438912" marR="438912" marT="219456" marB="219456"/>
                </a:tc>
                <a:extLst>
                  <a:ext uri="{0D108BD9-81ED-4DB2-BD59-A6C34878D82A}">
                    <a16:rowId xmlns:a16="http://schemas.microsoft.com/office/drawing/2014/main" val="592728122"/>
                  </a:ext>
                </a:extLst>
              </a:tr>
              <a:tr h="792965">
                <a:tc>
                  <a:txBody>
                    <a:bodyPr/>
                    <a:lstStyle/>
                    <a:p>
                      <a:pPr lvl="0">
                        <a:buNone/>
                      </a:pPr>
                      <a:r>
                        <a:rPr lang="en-US" sz="2900" dirty="0"/>
                        <a:t>Player Load/min</a:t>
                      </a:r>
                      <a:endParaRPr lang="en-US" sz="8600" dirty="0"/>
                    </a:p>
                  </a:txBody>
                  <a:tcPr marL="438912" marR="438912" marT="219456" marB="219456"/>
                </a:tc>
                <a:tc>
                  <a:txBody>
                    <a:bodyPr/>
                    <a:lstStyle/>
                    <a:p>
                      <a:pPr lvl="0">
                        <a:buNone/>
                      </a:pPr>
                      <a:r>
                        <a:rPr lang="en-US" sz="2900" dirty="0"/>
                        <a:t>3.71</a:t>
                      </a:r>
                      <a:endParaRPr lang="en-US" sz="8600" dirty="0"/>
                    </a:p>
                  </a:txBody>
                  <a:tcPr marL="438912" marR="438912" marT="219456" marB="219456"/>
                </a:tc>
                <a:extLst>
                  <a:ext uri="{0D108BD9-81ED-4DB2-BD59-A6C34878D82A}">
                    <a16:rowId xmlns:a16="http://schemas.microsoft.com/office/drawing/2014/main" val="2085475580"/>
                  </a:ext>
                </a:extLst>
              </a:tr>
              <a:tr h="792965">
                <a:tc>
                  <a:txBody>
                    <a:bodyPr/>
                    <a:lstStyle/>
                    <a:p>
                      <a:pPr lvl="0">
                        <a:buNone/>
                      </a:pPr>
                      <a:r>
                        <a:rPr lang="en-US" sz="2900" dirty="0"/>
                        <a:t>Total Distance (m)</a:t>
                      </a:r>
                      <a:endParaRPr lang="en-US" sz="8600" dirty="0"/>
                    </a:p>
                  </a:txBody>
                  <a:tcPr marL="438912" marR="438912" marT="219456" marB="219456"/>
                </a:tc>
                <a:tc>
                  <a:txBody>
                    <a:bodyPr/>
                    <a:lstStyle/>
                    <a:p>
                      <a:pPr lvl="0">
                        <a:buNone/>
                      </a:pPr>
                      <a:r>
                        <a:rPr lang="en-US" sz="2900" dirty="0"/>
                        <a:t>5225</a:t>
                      </a:r>
                    </a:p>
                  </a:txBody>
                  <a:tcPr marL="438912" marR="438912" marT="219456" marB="219456"/>
                </a:tc>
                <a:extLst>
                  <a:ext uri="{0D108BD9-81ED-4DB2-BD59-A6C34878D82A}">
                    <a16:rowId xmlns:a16="http://schemas.microsoft.com/office/drawing/2014/main" val="2229011421"/>
                  </a:ext>
                </a:extLst>
              </a:tr>
              <a:tr h="653028">
                <a:tc>
                  <a:txBody>
                    <a:bodyPr/>
                    <a:lstStyle/>
                    <a:p>
                      <a:pPr lvl="0">
                        <a:buNone/>
                      </a:pPr>
                      <a:r>
                        <a:rPr lang="en-US" sz="2900" dirty="0"/>
                        <a:t>Total High-Speed Distance (m)</a:t>
                      </a:r>
                      <a:endParaRPr lang="en-US" sz="8600" dirty="0"/>
                    </a:p>
                  </a:txBody>
                  <a:tcPr marL="438912" marR="438912" marT="219456" marB="219456"/>
                </a:tc>
                <a:tc>
                  <a:txBody>
                    <a:bodyPr/>
                    <a:lstStyle/>
                    <a:p>
                      <a:pPr lvl="0">
                        <a:buNone/>
                      </a:pPr>
                      <a:r>
                        <a:rPr lang="en-US" sz="2900" dirty="0"/>
                        <a:t>3</a:t>
                      </a:r>
                      <a:endParaRPr lang="en-US" sz="8600" dirty="0"/>
                    </a:p>
                  </a:txBody>
                  <a:tcPr marL="438912" marR="438912" marT="219456" marB="219456"/>
                </a:tc>
                <a:extLst>
                  <a:ext uri="{0D108BD9-81ED-4DB2-BD59-A6C34878D82A}">
                    <a16:rowId xmlns:a16="http://schemas.microsoft.com/office/drawing/2014/main" val="322926271"/>
                  </a:ext>
                </a:extLst>
              </a:tr>
              <a:tr h="653028">
                <a:tc>
                  <a:txBody>
                    <a:bodyPr/>
                    <a:lstStyle/>
                    <a:p>
                      <a:pPr lvl="0">
                        <a:buNone/>
                      </a:pPr>
                      <a:r>
                        <a:rPr lang="en-US" sz="2900" dirty="0"/>
                        <a:t>Dive Count</a:t>
                      </a:r>
                      <a:endParaRPr lang="en-US" sz="8600" dirty="0"/>
                    </a:p>
                  </a:txBody>
                  <a:tcPr marL="438912" marR="438912" marT="219456" marB="219456"/>
                </a:tc>
                <a:tc>
                  <a:txBody>
                    <a:bodyPr/>
                    <a:lstStyle/>
                    <a:p>
                      <a:pPr lvl="0">
                        <a:buNone/>
                      </a:pPr>
                      <a:r>
                        <a:rPr lang="en-US" sz="2900" dirty="0"/>
                        <a:t>5</a:t>
                      </a:r>
                    </a:p>
                  </a:txBody>
                  <a:tcPr marL="438912" marR="438912" marT="219456" marB="219456"/>
                </a:tc>
                <a:extLst>
                  <a:ext uri="{0D108BD9-81ED-4DB2-BD59-A6C34878D82A}">
                    <a16:rowId xmlns:a16="http://schemas.microsoft.com/office/drawing/2014/main" val="4152514742"/>
                  </a:ext>
                </a:extLst>
              </a:tr>
              <a:tr h="792965">
                <a:tc>
                  <a:txBody>
                    <a:bodyPr/>
                    <a:lstStyle/>
                    <a:p>
                      <a:pPr lvl="0">
                        <a:buNone/>
                      </a:pPr>
                      <a:r>
                        <a:rPr lang="en-US" sz="2900" dirty="0"/>
                        <a:t>Dive Load (unitless)</a:t>
                      </a:r>
                      <a:endParaRPr lang="en-US" sz="8600" dirty="0"/>
                    </a:p>
                  </a:txBody>
                  <a:tcPr marL="438912" marR="438912" marT="219456" marB="219456"/>
                </a:tc>
                <a:tc>
                  <a:txBody>
                    <a:bodyPr/>
                    <a:lstStyle/>
                    <a:p>
                      <a:pPr lvl="0">
                        <a:buNone/>
                      </a:pPr>
                      <a:r>
                        <a:rPr lang="en-US" sz="2900" dirty="0"/>
                        <a:t>44.5</a:t>
                      </a:r>
                    </a:p>
                  </a:txBody>
                  <a:tcPr marL="438912" marR="438912" marT="219456" marB="219456"/>
                </a:tc>
                <a:extLst>
                  <a:ext uri="{0D108BD9-81ED-4DB2-BD59-A6C34878D82A}">
                    <a16:rowId xmlns:a16="http://schemas.microsoft.com/office/drawing/2014/main" val="3497256619"/>
                  </a:ext>
                </a:extLst>
              </a:tr>
            </a:tbl>
          </a:graphicData>
        </a:graphic>
      </p:graphicFrame>
      <p:grpSp>
        <p:nvGrpSpPr>
          <p:cNvPr id="73" name="Group 72">
            <a:extLst>
              <a:ext uri="{FF2B5EF4-FFF2-40B4-BE49-F238E27FC236}">
                <a16:creationId xmlns:a16="http://schemas.microsoft.com/office/drawing/2014/main" id="{4ED92FEB-8A38-39BC-9358-E2D242ED6658}"/>
              </a:ext>
            </a:extLst>
          </p:cNvPr>
          <p:cNvGrpSpPr/>
          <p:nvPr/>
        </p:nvGrpSpPr>
        <p:grpSpPr>
          <a:xfrm>
            <a:off x="24247697" y="15359091"/>
            <a:ext cx="7796094" cy="3647770"/>
            <a:chOff x="24884592" y="16132378"/>
            <a:chExt cx="7796094" cy="3647770"/>
          </a:xfrm>
        </p:grpSpPr>
        <p:pic>
          <p:nvPicPr>
            <p:cNvPr id="2" name="Graphic 1" descr="Shield with solid fill">
              <a:extLst>
                <a:ext uri="{FF2B5EF4-FFF2-40B4-BE49-F238E27FC236}">
                  <a16:creationId xmlns:a16="http://schemas.microsoft.com/office/drawing/2014/main" id="{8DDC3E55-F757-B25E-993B-35F9CC784F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919485" y="17368382"/>
              <a:ext cx="393298" cy="359770"/>
            </a:xfrm>
            <a:prstGeom prst="rect">
              <a:avLst/>
            </a:prstGeom>
          </p:spPr>
        </p:pic>
        <p:pic>
          <p:nvPicPr>
            <p:cNvPr id="4" name="Graphic 3" descr="Run with solid fill">
              <a:extLst>
                <a:ext uri="{FF2B5EF4-FFF2-40B4-BE49-F238E27FC236}">
                  <a16:creationId xmlns:a16="http://schemas.microsoft.com/office/drawing/2014/main" id="{16D1D4A3-802E-4CE0-D043-D674FBDFAF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884592" y="19133047"/>
              <a:ext cx="416266" cy="337944"/>
            </a:xfrm>
            <a:prstGeom prst="rect">
              <a:avLst/>
            </a:prstGeom>
          </p:spPr>
        </p:pic>
        <p:sp>
          <p:nvSpPr>
            <p:cNvPr id="23" name="TextBox 22">
              <a:extLst>
                <a:ext uri="{FF2B5EF4-FFF2-40B4-BE49-F238E27FC236}">
                  <a16:creationId xmlns:a16="http://schemas.microsoft.com/office/drawing/2014/main" id="{D6381147-C1C6-2484-AA61-02113EE801B2}"/>
                </a:ext>
              </a:extLst>
            </p:cNvPr>
            <p:cNvSpPr txBox="1"/>
            <p:nvPr/>
          </p:nvSpPr>
          <p:spPr>
            <a:xfrm>
              <a:off x="25162038" y="16132378"/>
              <a:ext cx="7518648" cy="3647770"/>
            </a:xfrm>
            <a:prstGeom prst="rect">
              <a:avLst/>
            </a:prstGeom>
            <a:noFill/>
          </p:spPr>
          <p:txBody>
            <a:bodyPr rot="0" spcFirstLastPara="0" vertOverflow="overflow" horzOverflow="overflow" vert="horz" wrap="square" lIns="438912" tIns="219456" rIns="438912" bIns="219456" numCol="1" spcCol="0" rtlCol="0" fromWordArt="0" anchor="t" anchorCtr="0" forceAA="0" compatLnSpc="1">
              <a:prstTxWarp prst="textNoShape">
                <a:avLst/>
              </a:prstTxWarp>
              <a:spAutoFit/>
            </a:bodyPr>
            <a:lst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a:lstStyle>
            <a:p>
              <a:pPr>
                <a:lnSpc>
                  <a:spcPct val="150000"/>
                </a:lnSpc>
              </a:pPr>
              <a:r>
                <a:rPr lang="en-US" sz="2800" b="1"/>
                <a:t>Key: </a:t>
              </a:r>
            </a:p>
            <a:p>
              <a:pPr>
                <a:lnSpc>
                  <a:spcPct val="200000"/>
                </a:lnSpc>
              </a:pPr>
              <a:r>
                <a:rPr lang="en-US" sz="2800"/>
                <a:t>= Significantly different from defenders</a:t>
              </a:r>
            </a:p>
            <a:p>
              <a:pPr>
                <a:lnSpc>
                  <a:spcPct val="200000"/>
                </a:lnSpc>
              </a:pPr>
              <a:r>
                <a:rPr lang="en-US" sz="2800"/>
                <a:t>= Significantly different from attackers</a:t>
              </a:r>
            </a:p>
            <a:p>
              <a:pPr>
                <a:lnSpc>
                  <a:spcPct val="200000"/>
                </a:lnSpc>
              </a:pPr>
              <a:r>
                <a:rPr lang="en-US" sz="2800"/>
                <a:t>= Significantly different from midfielders </a:t>
              </a:r>
            </a:p>
          </p:txBody>
        </p:sp>
        <p:pic>
          <p:nvPicPr>
            <p:cNvPr id="3" name="Graphic 2" descr="Soccer ball with solid fill">
              <a:extLst>
                <a:ext uri="{FF2B5EF4-FFF2-40B4-BE49-F238E27FC236}">
                  <a16:creationId xmlns:a16="http://schemas.microsoft.com/office/drawing/2014/main" id="{F923B687-3EBD-17AF-AE92-1978A5E3FF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953827" y="18293870"/>
              <a:ext cx="359510" cy="348010"/>
            </a:xfrm>
            <a:prstGeom prst="rect">
              <a:avLst/>
            </a:prstGeom>
          </p:spPr>
        </p:pic>
      </p:grpSp>
      <p:sp>
        <p:nvSpPr>
          <p:cNvPr id="20" name="TextBox 19">
            <a:extLst>
              <a:ext uri="{FF2B5EF4-FFF2-40B4-BE49-F238E27FC236}">
                <a16:creationId xmlns:a16="http://schemas.microsoft.com/office/drawing/2014/main" id="{9BD1112C-E85F-DC30-81CE-C53B25FDA4B6}"/>
              </a:ext>
            </a:extLst>
          </p:cNvPr>
          <p:cNvSpPr txBox="1"/>
          <p:nvPr/>
        </p:nvSpPr>
        <p:spPr>
          <a:xfrm>
            <a:off x="23337758" y="14997873"/>
            <a:ext cx="9626607" cy="750975"/>
          </a:xfrm>
          <a:prstGeom prst="rect">
            <a:avLst/>
          </a:prstGeom>
          <a:noFill/>
        </p:spPr>
        <p:txBody>
          <a:bodyPr rot="0" spcFirstLastPara="0" vertOverflow="overflow" horzOverflow="overflow" vert="horz" wrap="square" lIns="438912" tIns="219456" rIns="438912" bIns="219456" numCol="1" spcCol="0" rtlCol="0" fromWordArt="0" anchor="t" anchorCtr="0" forceAA="0" compatLnSpc="1">
            <a:prstTxWarp prst="textNoShape">
              <a:avLst/>
            </a:prstTxWarp>
            <a:spAutoFit/>
          </a:bodyPr>
          <a:lst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a:lstStyle>
          <a:p>
            <a:r>
              <a:rPr lang="en-US" sz="2000"/>
              <a:t>*goalkeeper metrics are significantly different from metrics in all other positions</a:t>
            </a:r>
          </a:p>
        </p:txBody>
      </p:sp>
      <p:grpSp>
        <p:nvGrpSpPr>
          <p:cNvPr id="67" name="Group 66">
            <a:extLst>
              <a:ext uri="{FF2B5EF4-FFF2-40B4-BE49-F238E27FC236}">
                <a16:creationId xmlns:a16="http://schemas.microsoft.com/office/drawing/2014/main" id="{0EEA8433-A069-02C2-72BE-5CF24B728E32}"/>
              </a:ext>
            </a:extLst>
          </p:cNvPr>
          <p:cNvGrpSpPr/>
          <p:nvPr/>
        </p:nvGrpSpPr>
        <p:grpSpPr>
          <a:xfrm>
            <a:off x="15878502" y="8843206"/>
            <a:ext cx="6783431" cy="8244660"/>
            <a:chOff x="15754981" y="9131422"/>
            <a:chExt cx="6783431" cy="8244660"/>
          </a:xfrm>
        </p:grpSpPr>
        <p:pic>
          <p:nvPicPr>
            <p:cNvPr id="24" name="Graphic 23" descr="Shield with solid fill">
              <a:extLst>
                <a:ext uri="{FF2B5EF4-FFF2-40B4-BE49-F238E27FC236}">
                  <a16:creationId xmlns:a16="http://schemas.microsoft.com/office/drawing/2014/main" id="{EA6473ED-C300-7EA5-8BAD-F962990C75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474214" y="10090939"/>
              <a:ext cx="393298" cy="359770"/>
            </a:xfrm>
            <a:prstGeom prst="rect">
              <a:avLst/>
            </a:prstGeom>
          </p:spPr>
        </p:pic>
        <p:pic>
          <p:nvPicPr>
            <p:cNvPr id="26" name="Graphic 25" descr="Soccer ball with solid fill">
              <a:extLst>
                <a:ext uri="{FF2B5EF4-FFF2-40B4-BE49-F238E27FC236}">
                  <a16:creationId xmlns:a16="http://schemas.microsoft.com/office/drawing/2014/main" id="{22F2C293-E54E-E135-D330-808E32F9BDA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018797" y="10098494"/>
              <a:ext cx="359510" cy="348010"/>
            </a:xfrm>
            <a:prstGeom prst="rect">
              <a:avLst/>
            </a:prstGeom>
          </p:spPr>
        </p:pic>
        <p:pic>
          <p:nvPicPr>
            <p:cNvPr id="28" name="Graphic 27" descr="Run with solid fill">
              <a:extLst>
                <a:ext uri="{FF2B5EF4-FFF2-40B4-BE49-F238E27FC236}">
                  <a16:creationId xmlns:a16="http://schemas.microsoft.com/office/drawing/2014/main" id="{650B8E90-9F93-2296-618C-F48236A6B7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066016" y="9362756"/>
              <a:ext cx="416266" cy="337944"/>
            </a:xfrm>
            <a:prstGeom prst="rect">
              <a:avLst/>
            </a:prstGeom>
          </p:spPr>
        </p:pic>
        <p:pic>
          <p:nvPicPr>
            <p:cNvPr id="32" name="Graphic 31" descr="Run with solid fill">
              <a:extLst>
                <a:ext uri="{FF2B5EF4-FFF2-40B4-BE49-F238E27FC236}">
                  <a16:creationId xmlns:a16="http://schemas.microsoft.com/office/drawing/2014/main" id="{5C39CD46-4301-58D2-D55C-46A3B15838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796838" y="10096620"/>
              <a:ext cx="416266" cy="337944"/>
            </a:xfrm>
            <a:prstGeom prst="rect">
              <a:avLst/>
            </a:prstGeom>
          </p:spPr>
        </p:pic>
        <p:pic>
          <p:nvPicPr>
            <p:cNvPr id="33" name="Graphic 32" descr="Soccer ball with solid fill">
              <a:extLst>
                <a:ext uri="{FF2B5EF4-FFF2-40B4-BE49-F238E27FC236}">
                  <a16:creationId xmlns:a16="http://schemas.microsoft.com/office/drawing/2014/main" id="{55DC1E81-813C-ABEF-3023-A05C44F407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699305" y="10078934"/>
              <a:ext cx="359510" cy="348010"/>
            </a:xfrm>
            <a:prstGeom prst="rect">
              <a:avLst/>
            </a:prstGeom>
          </p:spPr>
        </p:pic>
        <p:pic>
          <p:nvPicPr>
            <p:cNvPr id="34" name="Graphic 33" descr="Shield with solid fill">
              <a:extLst>
                <a:ext uri="{FF2B5EF4-FFF2-40B4-BE49-F238E27FC236}">
                  <a16:creationId xmlns:a16="http://schemas.microsoft.com/office/drawing/2014/main" id="{61C69E41-1E43-7971-2BCB-268E92CFA1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722158" y="9272169"/>
              <a:ext cx="393298" cy="359770"/>
            </a:xfrm>
            <a:prstGeom prst="rect">
              <a:avLst/>
            </a:prstGeom>
          </p:spPr>
        </p:pic>
        <p:pic>
          <p:nvPicPr>
            <p:cNvPr id="35" name="Graphic 34" descr="Soccer ball with solid fill">
              <a:extLst>
                <a:ext uri="{FF2B5EF4-FFF2-40B4-BE49-F238E27FC236}">
                  <a16:creationId xmlns:a16="http://schemas.microsoft.com/office/drawing/2014/main" id="{23EB76D3-572A-1A00-932B-2D2B70678A7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911730" y="9131422"/>
              <a:ext cx="359510" cy="348010"/>
            </a:xfrm>
            <a:prstGeom prst="rect">
              <a:avLst/>
            </a:prstGeom>
          </p:spPr>
        </p:pic>
        <p:pic>
          <p:nvPicPr>
            <p:cNvPr id="36" name="Graphic 35" descr="Soccer ball with solid fill">
              <a:extLst>
                <a:ext uri="{FF2B5EF4-FFF2-40B4-BE49-F238E27FC236}">
                  <a16:creationId xmlns:a16="http://schemas.microsoft.com/office/drawing/2014/main" id="{64E1E067-BC88-929D-74C0-0E856C4480E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170695" y="9132785"/>
              <a:ext cx="359510" cy="348010"/>
            </a:xfrm>
            <a:prstGeom prst="rect">
              <a:avLst/>
            </a:prstGeom>
          </p:spPr>
        </p:pic>
        <p:pic>
          <p:nvPicPr>
            <p:cNvPr id="37" name="Graphic 36" descr="Shield with solid fill">
              <a:extLst>
                <a:ext uri="{FF2B5EF4-FFF2-40B4-BE49-F238E27FC236}">
                  <a16:creationId xmlns:a16="http://schemas.microsoft.com/office/drawing/2014/main" id="{7BCC2727-3CC7-E782-D6BB-C014767BB1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746294" y="12282950"/>
              <a:ext cx="393298" cy="359770"/>
            </a:xfrm>
            <a:prstGeom prst="rect">
              <a:avLst/>
            </a:prstGeom>
          </p:spPr>
        </p:pic>
        <p:pic>
          <p:nvPicPr>
            <p:cNvPr id="38" name="Graphic 37" descr="Run with solid fill">
              <a:extLst>
                <a:ext uri="{FF2B5EF4-FFF2-40B4-BE49-F238E27FC236}">
                  <a16:creationId xmlns:a16="http://schemas.microsoft.com/office/drawing/2014/main" id="{A3DAAA0E-CCC2-8CC4-5E78-5DB9872744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122146" y="12287268"/>
              <a:ext cx="416266" cy="337944"/>
            </a:xfrm>
            <a:prstGeom prst="rect">
              <a:avLst/>
            </a:prstGeom>
          </p:spPr>
        </p:pic>
        <p:pic>
          <p:nvPicPr>
            <p:cNvPr id="39" name="Graphic 38" descr="Soccer ball with solid fill">
              <a:extLst>
                <a:ext uri="{FF2B5EF4-FFF2-40B4-BE49-F238E27FC236}">
                  <a16:creationId xmlns:a16="http://schemas.microsoft.com/office/drawing/2014/main" id="{713F40CB-2A4A-5715-8F8C-852E225E219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808488" y="12289142"/>
              <a:ext cx="359510" cy="348010"/>
            </a:xfrm>
            <a:prstGeom prst="rect">
              <a:avLst/>
            </a:prstGeom>
          </p:spPr>
        </p:pic>
        <p:pic>
          <p:nvPicPr>
            <p:cNvPr id="40" name="Graphic 39" descr="Soccer ball with solid fill">
              <a:extLst>
                <a:ext uri="{FF2B5EF4-FFF2-40B4-BE49-F238E27FC236}">
                  <a16:creationId xmlns:a16="http://schemas.microsoft.com/office/drawing/2014/main" id="{C1291926-6E2A-EEDD-21F4-46EC2DA2F97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249418" y="12289142"/>
              <a:ext cx="359510" cy="348010"/>
            </a:xfrm>
            <a:prstGeom prst="rect">
              <a:avLst/>
            </a:prstGeom>
          </p:spPr>
        </p:pic>
        <p:pic>
          <p:nvPicPr>
            <p:cNvPr id="41" name="Graphic 40" descr="Shield with solid fill">
              <a:extLst>
                <a:ext uri="{FF2B5EF4-FFF2-40B4-BE49-F238E27FC236}">
                  <a16:creationId xmlns:a16="http://schemas.microsoft.com/office/drawing/2014/main" id="{48FB1CD3-55C2-5568-3BF3-2A1E13A805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79918" y="13636631"/>
              <a:ext cx="393298" cy="359770"/>
            </a:xfrm>
            <a:prstGeom prst="rect">
              <a:avLst/>
            </a:prstGeom>
          </p:spPr>
        </p:pic>
        <p:pic>
          <p:nvPicPr>
            <p:cNvPr id="42" name="Graphic 41" descr="Run with solid fill">
              <a:extLst>
                <a:ext uri="{FF2B5EF4-FFF2-40B4-BE49-F238E27FC236}">
                  <a16:creationId xmlns:a16="http://schemas.microsoft.com/office/drawing/2014/main" id="{EBD8B453-03B4-07BC-75D3-10ACF08E53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01460" y="13677343"/>
              <a:ext cx="416266" cy="337944"/>
            </a:xfrm>
            <a:prstGeom prst="rect">
              <a:avLst/>
            </a:prstGeom>
          </p:spPr>
        </p:pic>
        <p:pic>
          <p:nvPicPr>
            <p:cNvPr id="43" name="Graphic 42" descr="Soccer ball with solid fill">
              <a:extLst>
                <a:ext uri="{FF2B5EF4-FFF2-40B4-BE49-F238E27FC236}">
                  <a16:creationId xmlns:a16="http://schemas.microsoft.com/office/drawing/2014/main" id="{EDC06CB1-6E61-D3D6-2B8D-2E9F0D41C4B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771960" y="13668380"/>
              <a:ext cx="359510" cy="348010"/>
            </a:xfrm>
            <a:prstGeom prst="rect">
              <a:avLst/>
            </a:prstGeom>
          </p:spPr>
        </p:pic>
        <p:pic>
          <p:nvPicPr>
            <p:cNvPr id="44" name="Graphic 43" descr="Shield with solid fill">
              <a:extLst>
                <a:ext uri="{FF2B5EF4-FFF2-40B4-BE49-F238E27FC236}">
                  <a16:creationId xmlns:a16="http://schemas.microsoft.com/office/drawing/2014/main" id="{0DCB431D-4415-F5C7-5E9E-FB4854621A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295941" y="13636631"/>
              <a:ext cx="393298" cy="359770"/>
            </a:xfrm>
            <a:prstGeom prst="rect">
              <a:avLst/>
            </a:prstGeom>
          </p:spPr>
        </p:pic>
        <p:pic>
          <p:nvPicPr>
            <p:cNvPr id="45" name="Graphic 44" descr="Soccer ball with solid fill">
              <a:extLst>
                <a:ext uri="{FF2B5EF4-FFF2-40B4-BE49-F238E27FC236}">
                  <a16:creationId xmlns:a16="http://schemas.microsoft.com/office/drawing/2014/main" id="{89AE251B-5F25-67F8-2AC9-6F5484AC77B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146663" y="11367544"/>
              <a:ext cx="359510" cy="348010"/>
            </a:xfrm>
            <a:prstGeom prst="rect">
              <a:avLst/>
            </a:prstGeom>
          </p:spPr>
        </p:pic>
        <p:pic>
          <p:nvPicPr>
            <p:cNvPr id="46" name="Graphic 45" descr="Shield with solid fill">
              <a:extLst>
                <a:ext uri="{FF2B5EF4-FFF2-40B4-BE49-F238E27FC236}">
                  <a16:creationId xmlns:a16="http://schemas.microsoft.com/office/drawing/2014/main" id="{509BD92B-5117-4519-FCA0-E73A16300A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72783" y="11401416"/>
              <a:ext cx="393298" cy="359770"/>
            </a:xfrm>
            <a:prstGeom prst="rect">
              <a:avLst/>
            </a:prstGeom>
          </p:spPr>
        </p:pic>
        <p:pic>
          <p:nvPicPr>
            <p:cNvPr id="47" name="Graphic 46" descr="Run with solid fill">
              <a:extLst>
                <a:ext uri="{FF2B5EF4-FFF2-40B4-BE49-F238E27FC236}">
                  <a16:creationId xmlns:a16="http://schemas.microsoft.com/office/drawing/2014/main" id="{C6C734B5-862E-7DA0-AFC9-1CB27B8654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675002" y="11422568"/>
              <a:ext cx="416266" cy="337944"/>
            </a:xfrm>
            <a:prstGeom prst="rect">
              <a:avLst/>
            </a:prstGeom>
          </p:spPr>
        </p:pic>
        <p:pic>
          <p:nvPicPr>
            <p:cNvPr id="48" name="Graphic 47" descr="Run with solid fill">
              <a:extLst>
                <a:ext uri="{FF2B5EF4-FFF2-40B4-BE49-F238E27FC236}">
                  <a16:creationId xmlns:a16="http://schemas.microsoft.com/office/drawing/2014/main" id="{A22DD8B0-3BCC-47CF-E2EA-7A3B5C23D8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813517" y="11405729"/>
              <a:ext cx="416266" cy="337944"/>
            </a:xfrm>
            <a:prstGeom prst="rect">
              <a:avLst/>
            </a:prstGeom>
          </p:spPr>
        </p:pic>
        <p:pic>
          <p:nvPicPr>
            <p:cNvPr id="49" name="Graphic 48" descr="Soccer ball with solid fill">
              <a:extLst>
                <a:ext uri="{FF2B5EF4-FFF2-40B4-BE49-F238E27FC236}">
                  <a16:creationId xmlns:a16="http://schemas.microsoft.com/office/drawing/2014/main" id="{B25C2906-B50B-DFAB-4233-CC5A2112511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754981" y="16004059"/>
              <a:ext cx="359510" cy="348010"/>
            </a:xfrm>
            <a:prstGeom prst="rect">
              <a:avLst/>
            </a:prstGeom>
          </p:spPr>
        </p:pic>
        <p:pic>
          <p:nvPicPr>
            <p:cNvPr id="50" name="Graphic 49" descr="Run with solid fill">
              <a:extLst>
                <a:ext uri="{FF2B5EF4-FFF2-40B4-BE49-F238E27FC236}">
                  <a16:creationId xmlns:a16="http://schemas.microsoft.com/office/drawing/2014/main" id="{5A079ACA-5A3E-F2BA-E8A4-3EAE2B4F17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186117" y="15967149"/>
              <a:ext cx="416266" cy="337944"/>
            </a:xfrm>
            <a:prstGeom prst="rect">
              <a:avLst/>
            </a:prstGeom>
          </p:spPr>
        </p:pic>
        <p:pic>
          <p:nvPicPr>
            <p:cNvPr id="51" name="Graphic 50" descr="Shield with solid fill">
              <a:extLst>
                <a:ext uri="{FF2B5EF4-FFF2-40B4-BE49-F238E27FC236}">
                  <a16:creationId xmlns:a16="http://schemas.microsoft.com/office/drawing/2014/main" id="{F991676A-E09E-2DFB-C52D-6BF7F5C3FE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386657" y="15999225"/>
              <a:ext cx="393298" cy="359770"/>
            </a:xfrm>
            <a:prstGeom prst="rect">
              <a:avLst/>
            </a:prstGeom>
          </p:spPr>
        </p:pic>
        <p:pic>
          <p:nvPicPr>
            <p:cNvPr id="52" name="Graphic 51" descr="Shield with solid fill">
              <a:extLst>
                <a:ext uri="{FF2B5EF4-FFF2-40B4-BE49-F238E27FC236}">
                  <a16:creationId xmlns:a16="http://schemas.microsoft.com/office/drawing/2014/main" id="{9BF14716-717D-39D9-7346-2D2E388983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270541" y="15944634"/>
              <a:ext cx="393298" cy="359770"/>
            </a:xfrm>
            <a:prstGeom prst="rect">
              <a:avLst/>
            </a:prstGeom>
          </p:spPr>
        </p:pic>
        <p:pic>
          <p:nvPicPr>
            <p:cNvPr id="53" name="Graphic 52" descr="Soccer ball with solid fill">
              <a:extLst>
                <a:ext uri="{FF2B5EF4-FFF2-40B4-BE49-F238E27FC236}">
                  <a16:creationId xmlns:a16="http://schemas.microsoft.com/office/drawing/2014/main" id="{E9C04251-46A8-956D-DAAC-7D862DCD335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890415" y="15985862"/>
              <a:ext cx="359510" cy="348010"/>
            </a:xfrm>
            <a:prstGeom prst="rect">
              <a:avLst/>
            </a:prstGeom>
          </p:spPr>
        </p:pic>
        <p:pic>
          <p:nvPicPr>
            <p:cNvPr id="54" name="Graphic 53" descr="Run with solid fill">
              <a:extLst>
                <a:ext uri="{FF2B5EF4-FFF2-40B4-BE49-F238E27FC236}">
                  <a16:creationId xmlns:a16="http://schemas.microsoft.com/office/drawing/2014/main" id="{EB18AF49-E863-1149-C643-73453FE30F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680125" y="15976862"/>
              <a:ext cx="416266" cy="337944"/>
            </a:xfrm>
            <a:prstGeom prst="rect">
              <a:avLst/>
            </a:prstGeom>
          </p:spPr>
        </p:pic>
        <p:pic>
          <p:nvPicPr>
            <p:cNvPr id="55" name="Graphic 54" descr="Shield with solid fill">
              <a:extLst>
                <a:ext uri="{FF2B5EF4-FFF2-40B4-BE49-F238E27FC236}">
                  <a16:creationId xmlns:a16="http://schemas.microsoft.com/office/drawing/2014/main" id="{B35CBC35-1B16-213B-A0B3-3C4591861F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722280" y="16998115"/>
              <a:ext cx="393298" cy="359770"/>
            </a:xfrm>
            <a:prstGeom prst="rect">
              <a:avLst/>
            </a:prstGeom>
          </p:spPr>
        </p:pic>
        <p:pic>
          <p:nvPicPr>
            <p:cNvPr id="56" name="Graphic 55" descr="Shield with solid fill">
              <a:extLst>
                <a:ext uri="{FF2B5EF4-FFF2-40B4-BE49-F238E27FC236}">
                  <a16:creationId xmlns:a16="http://schemas.microsoft.com/office/drawing/2014/main" id="{F25D723D-456C-CDD0-4F80-961AA69AE1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503794" y="17016312"/>
              <a:ext cx="393298" cy="359770"/>
            </a:xfrm>
            <a:prstGeom prst="rect">
              <a:avLst/>
            </a:prstGeom>
          </p:spPr>
        </p:pic>
        <p:pic>
          <p:nvPicPr>
            <p:cNvPr id="57" name="Graphic 56" descr="Run with solid fill">
              <a:extLst>
                <a:ext uri="{FF2B5EF4-FFF2-40B4-BE49-F238E27FC236}">
                  <a16:creationId xmlns:a16="http://schemas.microsoft.com/office/drawing/2014/main" id="{5302DC7D-B1D2-6CB7-872B-155B5CFEC9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388347" y="17036939"/>
              <a:ext cx="416266" cy="337944"/>
            </a:xfrm>
            <a:prstGeom prst="rect">
              <a:avLst/>
            </a:prstGeom>
          </p:spPr>
        </p:pic>
        <p:pic>
          <p:nvPicPr>
            <p:cNvPr id="58" name="Graphic 57" descr="Soccer ball with solid fill">
              <a:extLst>
                <a:ext uri="{FF2B5EF4-FFF2-40B4-BE49-F238E27FC236}">
                  <a16:creationId xmlns:a16="http://schemas.microsoft.com/office/drawing/2014/main" id="{1CDCAE54-240C-78A0-BAB0-918157C981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028323" y="17022509"/>
              <a:ext cx="359510" cy="348010"/>
            </a:xfrm>
            <a:prstGeom prst="rect">
              <a:avLst/>
            </a:prstGeom>
          </p:spPr>
        </p:pic>
      </p:grpSp>
      <p:pic>
        <p:nvPicPr>
          <p:cNvPr id="59" name="Graphic 58" descr="Run with solid fill">
            <a:extLst>
              <a:ext uri="{FF2B5EF4-FFF2-40B4-BE49-F238E27FC236}">
                <a16:creationId xmlns:a16="http://schemas.microsoft.com/office/drawing/2014/main" id="{6F2D0BB2-2BBD-FA00-4DBE-5F43D44D70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094715" y="18113681"/>
            <a:ext cx="416266" cy="337944"/>
          </a:xfrm>
          <a:prstGeom prst="rect">
            <a:avLst/>
          </a:prstGeom>
        </p:spPr>
      </p:pic>
      <p:pic>
        <p:nvPicPr>
          <p:cNvPr id="60" name="Graphic 59" descr="Run with solid fill">
            <a:extLst>
              <a:ext uri="{FF2B5EF4-FFF2-40B4-BE49-F238E27FC236}">
                <a16:creationId xmlns:a16="http://schemas.microsoft.com/office/drawing/2014/main" id="{EDE199A9-0B56-80E3-4D1D-FC0E3266F2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737887" y="18120121"/>
            <a:ext cx="416266" cy="337944"/>
          </a:xfrm>
          <a:prstGeom prst="rect">
            <a:avLst/>
          </a:prstGeom>
        </p:spPr>
      </p:pic>
      <p:pic>
        <p:nvPicPr>
          <p:cNvPr id="61" name="Graphic 60" descr="Shield with solid fill">
            <a:extLst>
              <a:ext uri="{FF2B5EF4-FFF2-40B4-BE49-F238E27FC236}">
                <a16:creationId xmlns:a16="http://schemas.microsoft.com/office/drawing/2014/main" id="{C879930F-19F1-149F-C1D0-D4238F7CE7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873722" y="18075482"/>
            <a:ext cx="393298" cy="359770"/>
          </a:xfrm>
          <a:prstGeom prst="rect">
            <a:avLst/>
          </a:prstGeom>
        </p:spPr>
      </p:pic>
      <p:pic>
        <p:nvPicPr>
          <p:cNvPr id="62" name="Graphic 61" descr="Soccer ball with solid fill">
            <a:extLst>
              <a:ext uri="{FF2B5EF4-FFF2-40B4-BE49-F238E27FC236}">
                <a16:creationId xmlns:a16="http://schemas.microsoft.com/office/drawing/2014/main" id="{C43CB5F5-5137-D5B8-C56F-2EA9BB5561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268755" y="18078822"/>
            <a:ext cx="359510" cy="348010"/>
          </a:xfrm>
          <a:prstGeom prst="rect">
            <a:avLst/>
          </a:prstGeom>
        </p:spPr>
      </p:pic>
      <p:sp>
        <p:nvSpPr>
          <p:cNvPr id="65" name="TextBox 64">
            <a:extLst>
              <a:ext uri="{FF2B5EF4-FFF2-40B4-BE49-F238E27FC236}">
                <a16:creationId xmlns:a16="http://schemas.microsoft.com/office/drawing/2014/main" id="{AB3D4C4C-612E-879F-E35A-4CAF2F3FCCE5}"/>
              </a:ext>
            </a:extLst>
          </p:cNvPr>
          <p:cNvSpPr txBox="1"/>
          <p:nvPr/>
        </p:nvSpPr>
        <p:spPr>
          <a:xfrm>
            <a:off x="23202592" y="28100507"/>
            <a:ext cx="9462212"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sz="1600"/>
          </a:p>
          <a:p>
            <a:r>
              <a:rPr lang="en-US" sz="2000" dirty="0"/>
              <a:t>Figure 2  This figure represents the differences in PL/min observed when comparing first half vs second half averages within and between positions. These averages were calculated using only data from players who played +/- 10 minutes of their position's average duration due to the durations varying widely between positions and each position having a standard deviation of about 10 minutes  in the  first and second half.</a:t>
            </a:r>
          </a:p>
          <a:p>
            <a:r>
              <a:rPr lang="en-US" sz="2000" dirty="0"/>
              <a:t>*= significant difference between first half and second half</a:t>
            </a:r>
          </a:p>
          <a:p>
            <a:r>
              <a:rPr lang="en-US" sz="2000" dirty="0"/>
              <a:t>**=significant difference between positions for both first half and second half averages</a:t>
            </a:r>
          </a:p>
        </p:txBody>
      </p:sp>
      <p:sp>
        <p:nvSpPr>
          <p:cNvPr id="64" name="TextBox 63">
            <a:extLst>
              <a:ext uri="{FF2B5EF4-FFF2-40B4-BE49-F238E27FC236}">
                <a16:creationId xmlns:a16="http://schemas.microsoft.com/office/drawing/2014/main" id="{2BC342E2-B734-0F81-36E1-FA3E4CD2C07F}"/>
              </a:ext>
            </a:extLst>
          </p:cNvPr>
          <p:cNvSpPr txBox="1"/>
          <p:nvPr/>
        </p:nvSpPr>
        <p:spPr>
          <a:xfrm>
            <a:off x="33151374" y="24972159"/>
            <a:ext cx="10736306" cy="8630055"/>
          </a:xfrm>
          <a:prstGeom prst="rect">
            <a:avLst/>
          </a:prstGeom>
          <a:noFill/>
        </p:spPr>
        <p:txBody>
          <a:bodyPr rot="0" spcFirstLastPara="0" vertOverflow="overflow" horzOverflow="overflow" vert="horz" wrap="square" lIns="438912" tIns="219456" rIns="438912" bIns="219456" numCol="1" spcCol="0" rtlCol="0" fromWordArt="0" anchor="t" anchorCtr="0" forceAA="0" compatLnSpc="1">
            <a:prstTxWarp prst="textNoShape">
              <a:avLst/>
            </a:prstTxWarp>
            <a:spAutoFit/>
          </a:bodyPr>
          <a:lst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a:lstStyle>
          <a:p>
            <a:pPr marL="165100" algn="just"/>
            <a:endParaRPr lang="en-US" sz="2800" dirty="0"/>
          </a:p>
          <a:p>
            <a:pPr marL="822960" indent="-657860" algn="just">
              <a:buFont typeface="Arial,Sans-Serif"/>
              <a:buChar char="•"/>
            </a:pPr>
            <a:r>
              <a:rPr lang="en-US" sz="2800" dirty="0"/>
              <a:t>Continue to generate more data!</a:t>
            </a:r>
          </a:p>
          <a:p>
            <a:pPr marL="822960" indent="-657860" algn="just">
              <a:buFont typeface="Arial,Sans-Serif"/>
              <a:buChar char="•"/>
            </a:pPr>
            <a:r>
              <a:rPr lang="en-US" sz="2800" dirty="0"/>
              <a:t>Continue to explore high intensity exposure trends in matches compared to training, particularly for goal keepers</a:t>
            </a:r>
          </a:p>
          <a:p>
            <a:pPr marL="822960" indent="-657860" algn="just">
              <a:buFont typeface="Arial,Sans-Serif"/>
              <a:buChar char="•"/>
            </a:pPr>
            <a:r>
              <a:rPr lang="en-US" sz="2800" dirty="0"/>
              <a:t>Characterize match performances to be "good" vs "bad" so that we are comparing trainings to average match metrics in "good performances" (i.e. a good defensive performance could be indicated by low shots on own goal)</a:t>
            </a:r>
          </a:p>
          <a:p>
            <a:pPr marL="822960" indent="-657860" algn="just">
              <a:buFont typeface="Arial,Sans-Serif"/>
              <a:buChar char="•"/>
            </a:pPr>
            <a:r>
              <a:rPr lang="en-US" sz="2800" dirty="0"/>
              <a:t>Further explore the observed differences in outside back vs center back data and whether outside backs are more similar to a different position, additionally explore other specific positions like winger and center midfielder, among others</a:t>
            </a:r>
          </a:p>
          <a:p>
            <a:pPr marL="822960" indent="-657860" algn="just">
              <a:buFont typeface="Arial,Sans-Serif"/>
              <a:buChar char="•"/>
            </a:pPr>
            <a:r>
              <a:rPr lang="en-US" sz="2800" dirty="0"/>
              <a:t>Further explore trends in the first half versus second half data in more variables to get more context for the observed PL/min reductions</a:t>
            </a:r>
          </a:p>
          <a:p>
            <a:pPr marL="822960" indent="-657860" algn="just">
              <a:buFont typeface="Arial,Sans-Serif"/>
              <a:buChar char="•"/>
            </a:pPr>
            <a:endParaRPr lang="en-US" sz="2800" dirty="0"/>
          </a:p>
          <a:p>
            <a:pPr algn="just"/>
            <a:endParaRPr lang="en-US" sz="2800" dirty="0"/>
          </a:p>
          <a:p>
            <a:pPr marL="3017520" lvl="1" indent="-657860" algn="just">
              <a:buFont typeface="Courier New"/>
              <a:buChar char="o"/>
            </a:pPr>
            <a:endParaRPr lang="en-US" sz="2800" dirty="0"/>
          </a:p>
        </p:txBody>
      </p:sp>
      <p:sp>
        <p:nvSpPr>
          <p:cNvPr id="72" name="TextBox 71">
            <a:extLst>
              <a:ext uri="{FF2B5EF4-FFF2-40B4-BE49-F238E27FC236}">
                <a16:creationId xmlns:a16="http://schemas.microsoft.com/office/drawing/2014/main" id="{966F2FB2-57F9-7833-55E7-5AABE0757767}"/>
              </a:ext>
            </a:extLst>
          </p:cNvPr>
          <p:cNvSpPr txBox="1"/>
          <p:nvPr/>
        </p:nvSpPr>
        <p:spPr>
          <a:xfrm>
            <a:off x="18080886" y="27102491"/>
            <a:ext cx="817235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Figure 2 Player Load Per Minute: First Half vs Second Half</a:t>
            </a:r>
          </a:p>
        </p:txBody>
      </p:sp>
      <p:pic>
        <p:nvPicPr>
          <p:cNvPr id="70" name="Graphic 69" descr="Shield with solid fill">
            <a:extLst>
              <a:ext uri="{FF2B5EF4-FFF2-40B4-BE49-F238E27FC236}">
                <a16:creationId xmlns:a16="http://schemas.microsoft.com/office/drawing/2014/main" id="{BFE4016D-A92A-0C03-C9FB-256360CBA4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66835" y="23147944"/>
            <a:ext cx="393298" cy="359770"/>
          </a:xfrm>
          <a:prstGeom prst="rect">
            <a:avLst/>
          </a:prstGeom>
        </p:spPr>
      </p:pic>
      <p:sp>
        <p:nvSpPr>
          <p:cNvPr id="83" name="TextBox 82">
            <a:extLst>
              <a:ext uri="{FF2B5EF4-FFF2-40B4-BE49-F238E27FC236}">
                <a16:creationId xmlns:a16="http://schemas.microsoft.com/office/drawing/2014/main" id="{0661B20D-1CB6-481C-BA34-BC017BAB1B04}"/>
              </a:ext>
            </a:extLst>
          </p:cNvPr>
          <p:cNvSpPr txBox="1"/>
          <p:nvPr/>
        </p:nvSpPr>
        <p:spPr>
          <a:xfrm>
            <a:off x="-56717" y="22179644"/>
            <a:ext cx="10323988" cy="38164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280160" indent="-457200" algn="just">
              <a:buFont typeface="Arial"/>
              <a:buChar char="•"/>
            </a:pPr>
            <a:r>
              <a:rPr lang="en-US" sz="2800" b="1" dirty="0"/>
              <a:t>Primary question: </a:t>
            </a:r>
            <a:r>
              <a:rPr lang="en-US" sz="2800" dirty="0"/>
              <a:t>Is there a significant difference between each position's average performance metrics in matches? </a:t>
            </a:r>
            <a:endParaRPr lang="en-US" dirty="0"/>
          </a:p>
          <a:p>
            <a:pPr marL="1280160" indent="-457200" algn="just">
              <a:buFont typeface="Arial"/>
              <a:buChar char="•"/>
            </a:pPr>
            <a:r>
              <a:rPr lang="en-US" sz="2800" b="1" dirty="0"/>
              <a:t>Secondary question:</a:t>
            </a:r>
            <a:r>
              <a:rPr lang="en-US" sz="2800" dirty="0"/>
              <a:t> Are the exposures that players need to be prepared for in matches occurring in trainings?</a:t>
            </a:r>
          </a:p>
          <a:p>
            <a:pPr marL="1280160" indent="-457200" algn="just">
              <a:buFont typeface="Arial"/>
              <a:buChar char="•"/>
            </a:pPr>
            <a:r>
              <a:rPr lang="en-US" sz="2800" b="1" dirty="0"/>
              <a:t>Why:</a:t>
            </a:r>
            <a:r>
              <a:rPr lang="en-US" sz="2800" dirty="0"/>
              <a:t> Significant differences in match demands would indicate a need for different positional preparations in training</a:t>
            </a:r>
          </a:p>
          <a:p>
            <a:pPr algn="l"/>
            <a:endParaRPr lang="en-US"/>
          </a:p>
        </p:txBody>
      </p:sp>
      <p:sp>
        <p:nvSpPr>
          <p:cNvPr id="84" name="Rectangle 83">
            <a:extLst>
              <a:ext uri="{FF2B5EF4-FFF2-40B4-BE49-F238E27FC236}">
                <a16:creationId xmlns:a16="http://schemas.microsoft.com/office/drawing/2014/main" id="{104648B1-152F-48C5-4EA5-6B68630CA321}"/>
              </a:ext>
            </a:extLst>
          </p:cNvPr>
          <p:cNvSpPr/>
          <p:nvPr/>
        </p:nvSpPr>
        <p:spPr>
          <a:xfrm>
            <a:off x="-25013" y="21190480"/>
            <a:ext cx="10342781" cy="86628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lIns="438912" tIns="219456" rIns="438912" bIns="219456" rtlCol="0" anchor="ctr"/>
          <a:lst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a:lstStyle>
          <a:p>
            <a:pPr algn="ctr"/>
            <a:r>
              <a:rPr lang="en-US" sz="5250" b="1"/>
              <a:t>Question</a:t>
            </a:r>
          </a:p>
        </p:txBody>
      </p:sp>
      <p:sp>
        <p:nvSpPr>
          <p:cNvPr id="27" name="TextBox 26">
            <a:extLst>
              <a:ext uri="{FF2B5EF4-FFF2-40B4-BE49-F238E27FC236}">
                <a16:creationId xmlns:a16="http://schemas.microsoft.com/office/drawing/2014/main" id="{71821329-6FCD-F5E7-AF4A-F8C3F83807D9}"/>
              </a:ext>
            </a:extLst>
          </p:cNvPr>
          <p:cNvSpPr txBox="1"/>
          <p:nvPr/>
        </p:nvSpPr>
        <p:spPr>
          <a:xfrm>
            <a:off x="-82230" y="7006116"/>
            <a:ext cx="10535679" cy="15093363"/>
          </a:xfrm>
          <a:prstGeom prst="rect">
            <a:avLst/>
          </a:prstGeom>
          <a:noFill/>
        </p:spPr>
        <p:txBody>
          <a:bodyPr rot="0" spcFirstLastPara="0" vertOverflow="overflow" horzOverflow="overflow" vert="horz" wrap="square" lIns="438912" tIns="219456" rIns="438912" bIns="219456" numCol="1" spcCol="0" rtlCol="0" fromWordArt="0" anchor="t" anchorCtr="0" forceAA="0" compatLnSpc="1">
            <a:prstTxWarp prst="textNoShape">
              <a:avLst/>
            </a:prstTxWarp>
            <a:spAutoFit/>
          </a:bodyPr>
          <a:lst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a:lstStyle>
          <a:p>
            <a:pPr marL="987425" indent="-822960" algn="just">
              <a:buFont typeface="Arial"/>
              <a:buChar char="•"/>
            </a:pPr>
            <a:r>
              <a:rPr lang="en-US" sz="2800" dirty="0"/>
              <a:t>Soccer positions can broadly be broken into 4 distinct positions (goal keepers, defenders, midfielders, attackers) each with a unique role that calls  for different play strategies during matches</a:t>
            </a:r>
          </a:p>
          <a:p>
            <a:pPr marL="987425" indent="-822960" algn="just">
              <a:buFont typeface="Arial"/>
              <a:buChar char="•"/>
            </a:pPr>
            <a:r>
              <a:rPr lang="en-US" sz="2800" dirty="0">
                <a:latin typeface="Aptos"/>
                <a:cs typeface="Arial"/>
              </a:rPr>
              <a:t>Defenders can further be separated into the specific positions of outside back and center back for secondary analysis due to differences in their specific roles </a:t>
            </a:r>
            <a:endParaRPr lang="en-US" sz="2800" dirty="0">
              <a:cs typeface="Arial"/>
            </a:endParaRPr>
          </a:p>
          <a:p>
            <a:pPr marL="987425" indent="-822960" algn="just">
              <a:buFont typeface="Arial"/>
              <a:buChar char="•"/>
            </a:pPr>
            <a:r>
              <a:rPr lang="en-US" sz="2800" dirty="0"/>
              <a:t>Wearable technology allows for tracking of player data making it possible to understand the physical demands being placed on players, at Utah we use </a:t>
            </a:r>
            <a:r>
              <a:rPr lang="en-US" sz="2800" i="1" dirty="0"/>
              <a:t>Catapult</a:t>
            </a:r>
            <a:r>
              <a:rPr lang="en-US" sz="2800" dirty="0"/>
              <a:t> devices worn between player's scapulae during all matches and trainings</a:t>
            </a:r>
            <a:endParaRPr lang="en-US" dirty="0"/>
          </a:p>
          <a:p>
            <a:pPr marL="165100" algn="just"/>
            <a:r>
              <a:rPr lang="en-US" sz="2800" i="1" dirty="0"/>
              <a:t>Key metrics: </a:t>
            </a:r>
          </a:p>
          <a:p>
            <a:pPr marL="822960" indent="-657860" algn="just">
              <a:buFont typeface="Arial"/>
              <a:buChar char="•"/>
            </a:pPr>
            <a:r>
              <a:rPr lang="en-US" sz="2800" b="1" dirty="0"/>
              <a:t>Duration </a:t>
            </a:r>
            <a:r>
              <a:rPr lang="en-US" sz="2800" dirty="0"/>
              <a:t>(volume metric, time players are in match)</a:t>
            </a:r>
          </a:p>
          <a:p>
            <a:pPr marL="822960" indent="-657860" algn="just">
              <a:buFont typeface="Arial"/>
              <a:buChar char="•"/>
            </a:pPr>
            <a:r>
              <a:rPr lang="en-US" sz="2800" b="1" dirty="0"/>
              <a:t>Total Player Load</a:t>
            </a:r>
            <a:r>
              <a:rPr lang="en-US" sz="2800" dirty="0"/>
              <a:t> (volume metric, indicates </a:t>
            </a:r>
            <a:r>
              <a:rPr lang="en-US" sz="2800" u="sng" dirty="0"/>
              <a:t>overall work done</a:t>
            </a:r>
            <a:r>
              <a:rPr lang="en-US" sz="2800" dirty="0"/>
              <a:t> in a session)</a:t>
            </a:r>
            <a:endParaRPr lang="en-US" dirty="0"/>
          </a:p>
          <a:p>
            <a:pPr marL="165100" algn="just"/>
            <a:endParaRPr lang="en-US" sz="2800" dirty="0"/>
          </a:p>
          <a:p>
            <a:pPr marL="165100" algn="just"/>
            <a:endParaRPr lang="en-US" sz="2800" dirty="0"/>
          </a:p>
          <a:p>
            <a:pPr marL="822960" indent="-657860" algn="just">
              <a:buFont typeface="Arial"/>
              <a:buChar char="•"/>
            </a:pPr>
            <a:r>
              <a:rPr lang="en-US" sz="2800" b="1" dirty="0"/>
              <a:t>Player Load/min</a:t>
            </a:r>
            <a:r>
              <a:rPr lang="en-US" sz="2800" dirty="0"/>
              <a:t> (PL/min - density metric that shows </a:t>
            </a:r>
            <a:r>
              <a:rPr lang="en-US" sz="2800" u="sng" dirty="0"/>
              <a:t>work rate</a:t>
            </a:r>
            <a:r>
              <a:rPr lang="en-US" sz="2800" dirty="0"/>
              <a:t>)</a:t>
            </a:r>
          </a:p>
          <a:p>
            <a:pPr marL="822960" indent="-657860" algn="just">
              <a:buFont typeface="Arial"/>
              <a:buChar char="•"/>
            </a:pPr>
            <a:r>
              <a:rPr lang="en-US" sz="2800" b="1" dirty="0"/>
              <a:t>Total Distance</a:t>
            </a:r>
            <a:r>
              <a:rPr lang="en-US" sz="2800" dirty="0"/>
              <a:t> (volume metric, distance covered)</a:t>
            </a:r>
          </a:p>
          <a:p>
            <a:pPr marL="822960" indent="-657860" algn="just">
              <a:buFont typeface="Arial"/>
              <a:buChar char="•"/>
            </a:pPr>
            <a:r>
              <a:rPr lang="en-US" sz="2800" b="1" dirty="0"/>
              <a:t>Total High-Speed Distance </a:t>
            </a:r>
            <a:r>
              <a:rPr lang="en-US" sz="2800" dirty="0"/>
              <a:t>(HSD - intensity metric, distance covered at over 80% of a player's personal career maximum velocity)</a:t>
            </a:r>
          </a:p>
          <a:p>
            <a:pPr marL="822960" indent="-657860" algn="just">
              <a:buFont typeface="Arial"/>
              <a:buChar char="•"/>
            </a:pPr>
            <a:r>
              <a:rPr lang="en-US" sz="2800" b="1" dirty="0"/>
              <a:t>High and Medium Inertial Movement Analysis Change of Direction/Acceleration/Deceleration</a:t>
            </a:r>
            <a:r>
              <a:rPr lang="en-US" sz="2800" dirty="0"/>
              <a:t> (H&amp;M IMA COD/Accel/</a:t>
            </a:r>
            <a:r>
              <a:rPr lang="en-US" sz="2800" dirty="0" err="1"/>
              <a:t>Decel</a:t>
            </a:r>
            <a:r>
              <a:rPr lang="en-US" sz="2800" dirty="0"/>
              <a:t> – intensity/volume metrics </a:t>
            </a:r>
            <a:r>
              <a:rPr lang="en-US" sz="2800" u="sng" dirty="0"/>
              <a:t>tracking directional movements</a:t>
            </a:r>
            <a:r>
              <a:rPr lang="en-US" sz="2800" dirty="0"/>
              <a:t> and classifying them based on direction and intensity of movement)</a:t>
            </a:r>
          </a:p>
          <a:p>
            <a:pPr marL="822960" indent="-657860" algn="just">
              <a:buFont typeface="Arial"/>
              <a:buChar char="•"/>
            </a:pPr>
            <a:r>
              <a:rPr lang="en-US" sz="2800" b="1" dirty="0"/>
              <a:t>Dive Count and Dive Load</a:t>
            </a:r>
            <a:r>
              <a:rPr lang="en-US" sz="2800" dirty="0"/>
              <a:t> (GK specific volume metric that quantifies the </a:t>
            </a:r>
            <a:r>
              <a:rPr lang="en-US" sz="2800" u="sng" dirty="0"/>
              <a:t>number of dives </a:t>
            </a:r>
            <a:r>
              <a:rPr lang="en-US" sz="2800" dirty="0"/>
              <a:t>during a session and</a:t>
            </a:r>
            <a:r>
              <a:rPr lang="en-US" sz="2800" u="sng" dirty="0"/>
              <a:t> </a:t>
            </a:r>
            <a:r>
              <a:rPr lang="en-US" sz="2800" dirty="0"/>
              <a:t>the </a:t>
            </a:r>
            <a:r>
              <a:rPr lang="en-US" sz="2800" u="sng" dirty="0"/>
              <a:t>overall work done during these dives)</a:t>
            </a:r>
          </a:p>
          <a:p>
            <a:pPr marL="822960" indent="-657860" algn="just">
              <a:buFont typeface="Arial"/>
              <a:buChar char="•"/>
            </a:pPr>
            <a:endParaRPr lang="en-US" sz="2800" dirty="0"/>
          </a:p>
          <a:p>
            <a:pPr marL="822960" indent="-657860" algn="just">
              <a:buFont typeface="Arial"/>
              <a:buChar char="•"/>
            </a:pPr>
            <a:endParaRPr lang="en-US" sz="2800" dirty="0"/>
          </a:p>
        </p:txBody>
      </p:sp>
      <p:grpSp>
        <p:nvGrpSpPr>
          <p:cNvPr id="81" name="Group 80">
            <a:extLst>
              <a:ext uri="{FF2B5EF4-FFF2-40B4-BE49-F238E27FC236}">
                <a16:creationId xmlns:a16="http://schemas.microsoft.com/office/drawing/2014/main" id="{091F1BF5-FEA7-5FB8-0181-36EC5ED48FCC}"/>
              </a:ext>
            </a:extLst>
          </p:cNvPr>
          <p:cNvGrpSpPr/>
          <p:nvPr/>
        </p:nvGrpSpPr>
        <p:grpSpPr>
          <a:xfrm>
            <a:off x="11231926" y="19956806"/>
            <a:ext cx="11367720" cy="6367073"/>
            <a:chOff x="11208072" y="19575143"/>
            <a:chExt cx="11367720" cy="6367073"/>
          </a:xfrm>
        </p:grpSpPr>
        <p:sp>
          <p:nvSpPr>
            <p:cNvPr id="71" name="TextBox 70">
              <a:extLst>
                <a:ext uri="{FF2B5EF4-FFF2-40B4-BE49-F238E27FC236}">
                  <a16:creationId xmlns:a16="http://schemas.microsoft.com/office/drawing/2014/main" id="{D97DF097-1644-4014-A34A-0EAEB0AE4AF5}"/>
                </a:ext>
              </a:extLst>
            </p:cNvPr>
            <p:cNvSpPr txBox="1"/>
            <p:nvPr/>
          </p:nvSpPr>
          <p:spPr>
            <a:xfrm>
              <a:off x="11921051" y="25234330"/>
              <a:ext cx="981358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Figure 1.1 This figure represents the percent difference for each positional group's High-Speed Distance from the total team average of High-Speed Distance in training </a:t>
              </a:r>
              <a:endParaRPr lang="en-US" sz="2000">
                <a:latin typeface="Arial"/>
                <a:cs typeface="Arial"/>
              </a:endParaRPr>
            </a:p>
          </p:txBody>
        </p:sp>
        <p:grpSp>
          <p:nvGrpSpPr>
            <p:cNvPr id="75" name="Group 74">
              <a:extLst>
                <a:ext uri="{FF2B5EF4-FFF2-40B4-BE49-F238E27FC236}">
                  <a16:creationId xmlns:a16="http://schemas.microsoft.com/office/drawing/2014/main" id="{E1E1A9C5-445C-F2B4-0093-F5C083905447}"/>
                </a:ext>
              </a:extLst>
            </p:cNvPr>
            <p:cNvGrpSpPr/>
            <p:nvPr/>
          </p:nvGrpSpPr>
          <p:grpSpPr>
            <a:xfrm>
              <a:off x="11208072" y="19575143"/>
              <a:ext cx="11367720" cy="5371785"/>
              <a:chOff x="11238504" y="20080692"/>
              <a:chExt cx="11715413" cy="5860568"/>
            </a:xfrm>
          </p:grpSpPr>
          <p:grpSp>
            <p:nvGrpSpPr>
              <p:cNvPr id="63" name="Group 62">
                <a:extLst>
                  <a:ext uri="{FF2B5EF4-FFF2-40B4-BE49-F238E27FC236}">
                    <a16:creationId xmlns:a16="http://schemas.microsoft.com/office/drawing/2014/main" id="{D8E10231-FFC9-D062-8DAB-9DC446AA73CA}"/>
                  </a:ext>
                </a:extLst>
              </p:cNvPr>
              <p:cNvGrpSpPr/>
              <p:nvPr/>
            </p:nvGrpSpPr>
            <p:grpSpPr>
              <a:xfrm>
                <a:off x="11238504" y="20661441"/>
                <a:ext cx="9383462" cy="5279819"/>
                <a:chOff x="11187821" y="20509393"/>
                <a:chExt cx="9383462" cy="5279819"/>
              </a:xfrm>
            </p:grpSpPr>
            <p:pic>
              <p:nvPicPr>
                <p:cNvPr id="77" name="Picture 76" descr="A graph with red squares&#10;&#10;AI-generated content may be incorrect.">
                  <a:extLst>
                    <a:ext uri="{FF2B5EF4-FFF2-40B4-BE49-F238E27FC236}">
                      <a16:creationId xmlns:a16="http://schemas.microsoft.com/office/drawing/2014/main" id="{B2BC967D-8E11-2169-5694-75192BD8361B}"/>
                    </a:ext>
                  </a:extLst>
                </p:cNvPr>
                <p:cNvPicPr>
                  <a:picLocks noChangeAspect="1"/>
                </p:cNvPicPr>
                <p:nvPr/>
              </p:nvPicPr>
              <p:blipFill>
                <a:blip r:embed="rId6"/>
                <a:srcRect l="213" t="7346" r="1965" b="-307"/>
                <a:stretch/>
              </p:blipFill>
              <p:spPr>
                <a:xfrm>
                  <a:off x="11187821" y="20509393"/>
                  <a:ext cx="9383462" cy="5279819"/>
                </a:xfrm>
                <a:prstGeom prst="rect">
                  <a:avLst/>
                </a:prstGeom>
              </p:spPr>
            </p:pic>
            <p:pic>
              <p:nvPicPr>
                <p:cNvPr id="79" name="Graphic 78" descr="Shield with solid fill">
                  <a:extLst>
                    <a:ext uri="{FF2B5EF4-FFF2-40B4-BE49-F238E27FC236}">
                      <a16:creationId xmlns:a16="http://schemas.microsoft.com/office/drawing/2014/main" id="{71C17406-47E0-B3B3-F85C-9338D35F33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36632" y="21895333"/>
                  <a:ext cx="393298" cy="359770"/>
                </a:xfrm>
                <a:prstGeom prst="rect">
                  <a:avLst/>
                </a:prstGeom>
              </p:spPr>
            </p:pic>
            <p:pic>
              <p:nvPicPr>
                <p:cNvPr id="86" name="Graphic 85" descr="Run with solid fill">
                  <a:extLst>
                    <a:ext uri="{FF2B5EF4-FFF2-40B4-BE49-F238E27FC236}">
                      <a16:creationId xmlns:a16="http://schemas.microsoft.com/office/drawing/2014/main" id="{76CAB834-91B4-3389-BECA-13966315BE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246915" y="23990296"/>
                  <a:ext cx="399013" cy="355196"/>
                </a:xfrm>
                <a:prstGeom prst="rect">
                  <a:avLst/>
                </a:prstGeom>
              </p:spPr>
            </p:pic>
            <p:pic>
              <p:nvPicPr>
                <p:cNvPr id="88" name="Graphic 87" descr="Run with solid fill">
                  <a:extLst>
                    <a:ext uri="{FF2B5EF4-FFF2-40B4-BE49-F238E27FC236}">
                      <a16:creationId xmlns:a16="http://schemas.microsoft.com/office/drawing/2014/main" id="{546FCDE9-CC0F-BFB8-4D17-9C3D5E06F7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29162" y="23138109"/>
                  <a:ext cx="416266" cy="337944"/>
                </a:xfrm>
                <a:prstGeom prst="rect">
                  <a:avLst/>
                </a:prstGeom>
              </p:spPr>
            </p:pic>
            <p:pic>
              <p:nvPicPr>
                <p:cNvPr id="90" name="Graphic 89" descr="Run with solid fill">
                  <a:extLst>
                    <a:ext uri="{FF2B5EF4-FFF2-40B4-BE49-F238E27FC236}">
                      <a16:creationId xmlns:a16="http://schemas.microsoft.com/office/drawing/2014/main" id="{772C928C-71C0-A7CF-75D1-A9784BEFC4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640519" y="20888230"/>
                  <a:ext cx="416266" cy="337944"/>
                </a:xfrm>
                <a:prstGeom prst="rect">
                  <a:avLst/>
                </a:prstGeom>
              </p:spPr>
            </p:pic>
            <p:pic>
              <p:nvPicPr>
                <p:cNvPr id="96" name="Graphic 95" descr="Soccer ball with solid fill">
                  <a:extLst>
                    <a:ext uri="{FF2B5EF4-FFF2-40B4-BE49-F238E27FC236}">
                      <a16:creationId xmlns:a16="http://schemas.microsoft.com/office/drawing/2014/main" id="{6954C418-DC20-7A2F-3DD3-16AB864FDB0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501977" y="21889168"/>
                  <a:ext cx="359510" cy="348010"/>
                </a:xfrm>
                <a:prstGeom prst="rect">
                  <a:avLst/>
                </a:prstGeom>
              </p:spPr>
            </p:pic>
          </p:grpSp>
          <p:sp>
            <p:nvSpPr>
              <p:cNvPr id="8" name="TextBox 7">
                <a:extLst>
                  <a:ext uri="{FF2B5EF4-FFF2-40B4-BE49-F238E27FC236}">
                    <a16:creationId xmlns:a16="http://schemas.microsoft.com/office/drawing/2014/main" id="{C20251AE-CDEA-626F-A4FB-493021F596F8}"/>
                  </a:ext>
                </a:extLst>
              </p:cNvPr>
              <p:cNvSpPr txBox="1"/>
              <p:nvPr/>
            </p:nvSpPr>
            <p:spPr>
              <a:xfrm>
                <a:off x="12567631" y="20080692"/>
                <a:ext cx="10386286" cy="5036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Figure 1.1 Percent Difference in HSD (&gt;80%) by Position in Training</a:t>
                </a:r>
              </a:p>
            </p:txBody>
          </p:sp>
        </p:grpSp>
      </p:grpSp>
      <p:pic>
        <p:nvPicPr>
          <p:cNvPr id="5" name="Graphic 4" descr="Soccer ball with solid fill">
            <a:extLst>
              <a:ext uri="{FF2B5EF4-FFF2-40B4-BE49-F238E27FC236}">
                <a16:creationId xmlns:a16="http://schemas.microsoft.com/office/drawing/2014/main" id="{A330600D-A1A3-0B0A-3388-C28FFBC1912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627931" y="23189940"/>
            <a:ext cx="359510" cy="348010"/>
          </a:xfrm>
          <a:prstGeom prst="rect">
            <a:avLst/>
          </a:prstGeom>
        </p:spPr>
      </p:pic>
      <p:grpSp>
        <p:nvGrpSpPr>
          <p:cNvPr id="82" name="Group 81">
            <a:extLst>
              <a:ext uri="{FF2B5EF4-FFF2-40B4-BE49-F238E27FC236}">
                <a16:creationId xmlns:a16="http://schemas.microsoft.com/office/drawing/2014/main" id="{229A1105-23F1-5D11-32F2-B35D53D73225}"/>
              </a:ext>
            </a:extLst>
          </p:cNvPr>
          <p:cNvGrpSpPr/>
          <p:nvPr/>
        </p:nvGrpSpPr>
        <p:grpSpPr>
          <a:xfrm>
            <a:off x="21919960" y="19943505"/>
            <a:ext cx="10733405" cy="6387813"/>
            <a:chOff x="22429007" y="19566269"/>
            <a:chExt cx="10733405" cy="6387813"/>
          </a:xfrm>
        </p:grpSpPr>
        <p:sp>
          <p:nvSpPr>
            <p:cNvPr id="98" name="TextBox 97">
              <a:extLst>
                <a:ext uri="{FF2B5EF4-FFF2-40B4-BE49-F238E27FC236}">
                  <a16:creationId xmlns:a16="http://schemas.microsoft.com/office/drawing/2014/main" id="{A56B4ED3-6668-7C4F-C5F7-62503E08E5F0}"/>
                </a:ext>
              </a:extLst>
            </p:cNvPr>
            <p:cNvSpPr txBox="1"/>
            <p:nvPr/>
          </p:nvSpPr>
          <p:spPr>
            <a:xfrm>
              <a:off x="22920647" y="25246196"/>
              <a:ext cx="972608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Aptos"/>
                  <a:cs typeface="Arial"/>
                </a:rPr>
                <a:t>Figure 1.2 This figure represents the percent difference for each positional group's High-Speed Distance from the total team average of high-speed distance in matches</a:t>
              </a:r>
              <a:endParaRPr lang="en-US" dirty="0">
                <a:latin typeface="Aptos"/>
                <a:cs typeface="Arial"/>
              </a:endParaRPr>
            </a:p>
          </p:txBody>
        </p:sp>
        <p:grpSp>
          <p:nvGrpSpPr>
            <p:cNvPr id="74" name="Group 73">
              <a:extLst>
                <a:ext uri="{FF2B5EF4-FFF2-40B4-BE49-F238E27FC236}">
                  <a16:creationId xmlns:a16="http://schemas.microsoft.com/office/drawing/2014/main" id="{8D7907E4-4D49-FDE3-9CF3-DD019931DE20}"/>
                </a:ext>
              </a:extLst>
            </p:cNvPr>
            <p:cNvGrpSpPr/>
            <p:nvPr/>
          </p:nvGrpSpPr>
          <p:grpSpPr>
            <a:xfrm>
              <a:off x="22429007" y="19566269"/>
              <a:ext cx="10733405" cy="5389379"/>
              <a:chOff x="23190886" y="19762036"/>
              <a:chExt cx="11556721" cy="5959854"/>
            </a:xfrm>
          </p:grpSpPr>
          <p:sp>
            <p:nvSpPr>
              <p:cNvPr id="13" name="TextBox 12">
                <a:extLst>
                  <a:ext uri="{FF2B5EF4-FFF2-40B4-BE49-F238E27FC236}">
                    <a16:creationId xmlns:a16="http://schemas.microsoft.com/office/drawing/2014/main" id="{4B4C1C51-F066-74EB-0D93-93D2B44A5AF3}"/>
                  </a:ext>
                </a:extLst>
              </p:cNvPr>
              <p:cNvSpPr txBox="1"/>
              <p:nvPr/>
            </p:nvSpPr>
            <p:spPr>
              <a:xfrm>
                <a:off x="24263479" y="19762036"/>
                <a:ext cx="10484128" cy="5105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Figure 1.2 Percent Difference in HSD (&gt;80%) by Position in Matches</a:t>
                </a:r>
              </a:p>
            </p:txBody>
          </p:sp>
          <p:grpSp>
            <p:nvGrpSpPr>
              <p:cNvPr id="69" name="Group 68">
                <a:extLst>
                  <a:ext uri="{FF2B5EF4-FFF2-40B4-BE49-F238E27FC236}">
                    <a16:creationId xmlns:a16="http://schemas.microsoft.com/office/drawing/2014/main" id="{64BC1B9A-DE71-07DC-5CC0-D1D565221A54}"/>
                  </a:ext>
                </a:extLst>
              </p:cNvPr>
              <p:cNvGrpSpPr/>
              <p:nvPr/>
            </p:nvGrpSpPr>
            <p:grpSpPr>
              <a:xfrm>
                <a:off x="23190886" y="20427569"/>
                <a:ext cx="9309468" cy="5294321"/>
                <a:chOff x="23190886" y="20427569"/>
                <a:chExt cx="9309468" cy="5294321"/>
              </a:xfrm>
            </p:grpSpPr>
            <p:pic>
              <p:nvPicPr>
                <p:cNvPr id="25" name="Picture 24" descr="A graph with red squares&#10;&#10;AI-generated content may be incorrect.">
                  <a:extLst>
                    <a:ext uri="{FF2B5EF4-FFF2-40B4-BE49-F238E27FC236}">
                      <a16:creationId xmlns:a16="http://schemas.microsoft.com/office/drawing/2014/main" id="{8932F1F0-08E5-C03B-A2D5-F89F2785F121}"/>
                    </a:ext>
                  </a:extLst>
                </p:cNvPr>
                <p:cNvPicPr>
                  <a:picLocks noChangeAspect="1"/>
                </p:cNvPicPr>
                <p:nvPr/>
              </p:nvPicPr>
              <p:blipFill>
                <a:blip r:embed="rId7"/>
                <a:srcRect t="7399" r="2012" b="-22"/>
                <a:stretch/>
              </p:blipFill>
              <p:spPr>
                <a:xfrm>
                  <a:off x="23190886" y="20427569"/>
                  <a:ext cx="9309468" cy="5294321"/>
                </a:xfrm>
                <a:prstGeom prst="rect">
                  <a:avLst/>
                </a:prstGeom>
              </p:spPr>
            </p:pic>
            <p:pic>
              <p:nvPicPr>
                <p:cNvPr id="76" name="Graphic 75" descr="Shield with solid fill">
                  <a:extLst>
                    <a:ext uri="{FF2B5EF4-FFF2-40B4-BE49-F238E27FC236}">
                      <a16:creationId xmlns:a16="http://schemas.microsoft.com/office/drawing/2014/main" id="{2CD83B72-3850-D845-DB39-B1FEBE153C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66835" y="22074097"/>
                  <a:ext cx="393298" cy="359770"/>
                </a:xfrm>
                <a:prstGeom prst="rect">
                  <a:avLst/>
                </a:prstGeom>
              </p:spPr>
            </p:pic>
            <p:pic>
              <p:nvPicPr>
                <p:cNvPr id="78" name="Graphic 77" descr="Shield with solid fill">
                  <a:extLst>
                    <a:ext uri="{FF2B5EF4-FFF2-40B4-BE49-F238E27FC236}">
                      <a16:creationId xmlns:a16="http://schemas.microsoft.com/office/drawing/2014/main" id="{1A274CC3-7039-98F1-1672-36B42DFFBD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66835" y="20868208"/>
                  <a:ext cx="393298" cy="359770"/>
                </a:xfrm>
                <a:prstGeom prst="rect">
                  <a:avLst/>
                </a:prstGeom>
              </p:spPr>
            </p:pic>
            <p:pic>
              <p:nvPicPr>
                <p:cNvPr id="66" name="Graphic 65" descr="Run with solid fill">
                  <a:extLst>
                    <a:ext uri="{FF2B5EF4-FFF2-40B4-BE49-F238E27FC236}">
                      <a16:creationId xmlns:a16="http://schemas.microsoft.com/office/drawing/2014/main" id="{640F0A82-B1BE-8FBE-7C6A-AADC320679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316544" y="24164710"/>
                  <a:ext cx="416266" cy="337944"/>
                </a:xfrm>
                <a:prstGeom prst="rect">
                  <a:avLst/>
                </a:prstGeom>
              </p:spPr>
            </p:pic>
          </p:grpSp>
        </p:grpSp>
      </p:grpSp>
      <p:pic>
        <p:nvPicPr>
          <p:cNvPr id="68" name="Picture 67">
            <a:extLst>
              <a:ext uri="{FF2B5EF4-FFF2-40B4-BE49-F238E27FC236}">
                <a16:creationId xmlns:a16="http://schemas.microsoft.com/office/drawing/2014/main" id="{0512233A-D8A8-9927-241A-39628A5B592C}"/>
              </a:ext>
            </a:extLst>
          </p:cNvPr>
          <p:cNvPicPr>
            <a:picLocks noChangeAspect="1"/>
          </p:cNvPicPr>
          <p:nvPr/>
        </p:nvPicPr>
        <p:blipFill>
          <a:blip r:embed="rId8"/>
          <a:srcRect l="-347" t="5890" r="229" b="-762"/>
          <a:stretch/>
        </p:blipFill>
        <p:spPr>
          <a:xfrm>
            <a:off x="12449321" y="27757735"/>
            <a:ext cx="8897898" cy="5154779"/>
          </a:xfrm>
          <a:prstGeom prst="rect">
            <a:avLst/>
          </a:prstGeom>
        </p:spPr>
      </p:pic>
      <p:sp>
        <p:nvSpPr>
          <p:cNvPr id="80" name="TextBox 79">
            <a:extLst>
              <a:ext uri="{FF2B5EF4-FFF2-40B4-BE49-F238E27FC236}">
                <a16:creationId xmlns:a16="http://schemas.microsoft.com/office/drawing/2014/main" id="{E46B5698-6E06-70B0-6C18-E234D5D801EB}"/>
              </a:ext>
            </a:extLst>
          </p:cNvPr>
          <p:cNvSpPr txBox="1"/>
          <p:nvPr/>
        </p:nvSpPr>
        <p:spPr>
          <a:xfrm>
            <a:off x="24337281" y="6984970"/>
            <a:ext cx="6942644"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b="1"/>
              <a:t>Table 1.2 Average Performance Metric Values for Goalkeepers in Matches</a:t>
            </a:r>
          </a:p>
        </p:txBody>
      </p:sp>
      <p:pic>
        <p:nvPicPr>
          <p:cNvPr id="87" name="Graphic 86" descr="Shield with solid fill">
            <a:extLst>
              <a:ext uri="{FF2B5EF4-FFF2-40B4-BE49-F238E27FC236}">
                <a16:creationId xmlns:a16="http://schemas.microsoft.com/office/drawing/2014/main" id="{05BE0958-5237-C284-81B1-86DDF7E148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02807" y="22572979"/>
            <a:ext cx="365279" cy="325333"/>
          </a:xfrm>
          <a:prstGeom prst="rect">
            <a:avLst/>
          </a:prstGeom>
        </p:spPr>
      </p:pic>
      <p:pic>
        <p:nvPicPr>
          <p:cNvPr id="104" name="Graphic 103" descr="Soccer ball with solid fill">
            <a:extLst>
              <a:ext uri="{FF2B5EF4-FFF2-40B4-BE49-F238E27FC236}">
                <a16:creationId xmlns:a16="http://schemas.microsoft.com/office/drawing/2014/main" id="{CEA48A0A-6C85-727F-5E4C-407499FD065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138245" y="23532464"/>
            <a:ext cx="348840" cy="318985"/>
          </a:xfrm>
          <a:prstGeom prst="rect">
            <a:avLst/>
          </a:prstGeom>
        </p:spPr>
      </p:pic>
      <p:pic>
        <p:nvPicPr>
          <p:cNvPr id="85" name="Picture 84">
            <a:extLst>
              <a:ext uri="{FF2B5EF4-FFF2-40B4-BE49-F238E27FC236}">
                <a16:creationId xmlns:a16="http://schemas.microsoft.com/office/drawing/2014/main" id="{0D78ACE8-D7FF-6515-BEEA-AD50FE9540C8}"/>
              </a:ext>
            </a:extLst>
          </p:cNvPr>
          <p:cNvPicPr>
            <a:picLocks noChangeAspect="1"/>
          </p:cNvPicPr>
          <p:nvPr/>
        </p:nvPicPr>
        <p:blipFill>
          <a:blip r:embed="rId9"/>
          <a:stretch>
            <a:fillRect/>
          </a:stretch>
        </p:blipFill>
        <p:spPr>
          <a:xfrm>
            <a:off x="2584453" y="13955678"/>
            <a:ext cx="5438775" cy="838200"/>
          </a:xfrm>
          <a:prstGeom prst="rect">
            <a:avLst/>
          </a:prstGeom>
        </p:spPr>
      </p:pic>
      <p:pic>
        <p:nvPicPr>
          <p:cNvPr id="9" name="Picture 8" descr="A white logo on a black background&#10;&#10;AI-generated content may be incorrect.">
            <a:extLst>
              <a:ext uri="{FF2B5EF4-FFF2-40B4-BE49-F238E27FC236}">
                <a16:creationId xmlns:a16="http://schemas.microsoft.com/office/drawing/2014/main" id="{2625316B-1C00-36FA-BE79-33FAB1FC8003}"/>
              </a:ext>
            </a:extLst>
          </p:cNvPr>
          <p:cNvPicPr>
            <a:picLocks noChangeAspect="1"/>
          </p:cNvPicPr>
          <p:nvPr/>
        </p:nvPicPr>
        <p:blipFill>
          <a:blip r:embed="rId10"/>
          <a:stretch>
            <a:fillRect/>
          </a:stretch>
        </p:blipFill>
        <p:spPr>
          <a:xfrm>
            <a:off x="37746125" y="642689"/>
            <a:ext cx="4797370" cy="4794190"/>
          </a:xfrm>
          <a:prstGeom prst="rect">
            <a:avLst/>
          </a:prstGeom>
        </p:spPr>
      </p:pic>
      <p:pic>
        <p:nvPicPr>
          <p:cNvPr id="10" name="Picture 9" descr="A white letter in a circle with a feather in the middle&#10;&#10;AI-generated content may be incorrect.">
            <a:extLst>
              <a:ext uri="{FF2B5EF4-FFF2-40B4-BE49-F238E27FC236}">
                <a16:creationId xmlns:a16="http://schemas.microsoft.com/office/drawing/2014/main" id="{7D8068A1-9EAB-2236-10E0-6747F16B436E}"/>
              </a:ext>
            </a:extLst>
          </p:cNvPr>
          <p:cNvPicPr>
            <a:picLocks noChangeAspect="1"/>
          </p:cNvPicPr>
          <p:nvPr/>
        </p:nvPicPr>
        <p:blipFill>
          <a:blip r:embed="rId11"/>
          <a:srcRect l="-8" t="17881" r="662" b="33444"/>
          <a:stretch/>
        </p:blipFill>
        <p:spPr>
          <a:xfrm>
            <a:off x="-1143097" y="642689"/>
            <a:ext cx="9804782" cy="4799421"/>
          </a:xfrm>
          <a:prstGeom prst="rect">
            <a:avLst/>
          </a:prstGeom>
        </p:spPr>
      </p:pic>
    </p:spTree>
    <p:extLst>
      <p:ext uri="{BB962C8B-B14F-4D97-AF65-F5344CB8AC3E}">
        <p14:creationId xmlns:p14="http://schemas.microsoft.com/office/powerpoint/2010/main" val="4196378726"/>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0d17105-8f77-41d9-a972-0c92124bd989" xsi:nil="true"/>
    <lcf76f155ced4ddcb4097134ff3c332f xmlns="42adc6ce-d2a1-4387-9572-d756fd0ffb0a">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5C903EE4E93694DA2F256B4A2D6D1CD" ma:contentTypeVersion="18" ma:contentTypeDescription="Create a new document." ma:contentTypeScope="" ma:versionID="d3ebce6e5aeb3547a78e4c89f23122b2">
  <xsd:schema xmlns:xsd="http://www.w3.org/2001/XMLSchema" xmlns:xs="http://www.w3.org/2001/XMLSchema" xmlns:p="http://schemas.microsoft.com/office/2006/metadata/properties" xmlns:ns1="http://schemas.microsoft.com/sharepoint/v3" xmlns:ns2="42adc6ce-d2a1-4387-9572-d756fd0ffb0a" xmlns:ns3="40d17105-8f77-41d9-a972-0c92124bd989" targetNamespace="http://schemas.microsoft.com/office/2006/metadata/properties" ma:root="true" ma:fieldsID="3142feb21402f40f8188773c4b4599a4" ns1:_="" ns2:_="" ns3:_="">
    <xsd:import namespace="http://schemas.microsoft.com/sharepoint/v3"/>
    <xsd:import namespace="42adc6ce-d2a1-4387-9572-d756fd0ffb0a"/>
    <xsd:import namespace="40d17105-8f77-41d9-a972-0c92124bd9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LengthInSecond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adc6ce-d2a1-4387-9572-d756fd0ffb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4573f668-f3c2-41a3-9de5-80cf810034af"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0d17105-8f77-41d9-a972-0c92124bd9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4fbc8d09-de0c-4b37-b82b-9b98920afb41}" ma:internalName="TaxCatchAll" ma:showField="CatchAllData" ma:web="40d17105-8f77-41d9-a972-0c92124bd989">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65BD43-1C75-42F5-895D-FD89B2C79BCE}">
  <ds:schemaRefs>
    <ds:schemaRef ds:uri="40d17105-8f77-41d9-a972-0c92124bd989"/>
    <ds:schemaRef ds:uri="42adc6ce-d2a1-4387-9572-d756fd0ffb0a"/>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8CF7CE89-E030-42A8-BDA2-97E5C83DF2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2adc6ce-d2a1-4387-9572-d756fd0ffb0a"/>
    <ds:schemaRef ds:uri="40d17105-8f77-41d9-a972-0c92124bd98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C65CB61-7F30-45CA-9A14-7D3BF3736747}">
  <ds:schemaRefs>
    <ds:schemaRef ds:uri="http://schemas.microsoft.com/sharepoint/v3/contenttype/forms"/>
  </ds:schemaRefs>
</ds:datastoreItem>
</file>

<file path=docMetadata/LabelInfo.xml><?xml version="1.0" encoding="utf-8"?>
<clbl:labelList xmlns:clbl="http://schemas.microsoft.com/office/2020/mipLabelMetadata">
  <clbl:label id="{170051ed-867f-4092-a6af-8a42e27b7e09}" enabled="1" method="Standard" siteId="{5217e0e7-539d-4563-b1bf-7c6dcf074f91}"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1135</Words>
  <Application>Microsoft Macintosh PowerPoint</Application>
  <PresentationFormat>Custom</PresentationFormat>
  <Paragraphs>115</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Arial,Sans-Serif</vt:lpstr>
      <vt:lpstr>Courier New</vt:lpstr>
      <vt:lpstr>Times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Cooper Kerr</cp:lastModifiedBy>
  <cp:revision>375</cp:revision>
  <dcterms:created xsi:type="dcterms:W3CDTF">2025-03-25T19:34:56Z</dcterms:created>
  <dcterms:modified xsi:type="dcterms:W3CDTF">2026-08-21T20:39:53Z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0x010100F5C903EE4E93694DA2F256B4A2D6D1CD</vt:lpwstr>
  </property>
  <property fmtid="{D5CDD505-2E9C-101B-9397-08002B2CF9AE}" pid="3" name="MediaServiceImageTags">
    <vt:lpwstr/>
  </property>
</Properties>
</file>